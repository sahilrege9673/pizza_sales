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Unna" charset="-122" pitchFamily="34"/>
      <p:regular r:id="rId20"/>
    </p:embeddedFont>
    <p:embeddedFont>
      <p:font typeface="Quattrocento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93a61f7323d2e95e643df0b321afe802c5b93cd5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" b="7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572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" name="Text 2"/>
          <p:cNvSpPr/>
          <p:nvPr/>
        </p:nvSpPr>
        <p:spPr>
          <a:xfrm>
            <a:off x="952500" y="381000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Intelligence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764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Pizza Sales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619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SQL-Driven Executive Report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426708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9" name="Text 6"/>
          <p:cNvSpPr/>
          <p:nvPr/>
        </p:nvSpPr>
        <p:spPr>
          <a:xfrm>
            <a:off x="647700" y="4228981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Data-Backed Strategic Insights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05125" y="42670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1" name="Text 8"/>
          <p:cNvSpPr/>
          <p:nvPr/>
        </p:nvSpPr>
        <p:spPr>
          <a:xfrm>
            <a:off x="3152775" y="4228981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&amp; Demand Analytics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6096119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 for Senior Management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6324719"/>
            <a:ext cx="2000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2026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896600" y="55626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1182350" y="5848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13653" y="603"/>
                </a:moveTo>
                <a:cubicBezTo>
                  <a:pt x="98383" y="-469"/>
                  <a:pt x="85591" y="9979"/>
                  <a:pt x="81841" y="23842"/>
                </a:cubicBezTo>
                <a:lnTo>
                  <a:pt x="75344" y="48220"/>
                </a:lnTo>
                <a:cubicBezTo>
                  <a:pt x="196431" y="48421"/>
                  <a:pt x="294479" y="146469"/>
                  <a:pt x="294680" y="267556"/>
                </a:cubicBezTo>
                <a:lnTo>
                  <a:pt x="319058" y="261059"/>
                </a:lnTo>
                <a:cubicBezTo>
                  <a:pt x="332988" y="257376"/>
                  <a:pt x="343369" y="244517"/>
                  <a:pt x="342297" y="229247"/>
                </a:cubicBezTo>
                <a:cubicBezTo>
                  <a:pt x="333859" y="106821"/>
                  <a:pt x="236079" y="9041"/>
                  <a:pt x="113653" y="603"/>
                </a:cubicBezTo>
                <a:close/>
                <a:moveTo>
                  <a:pt x="262332" y="276195"/>
                </a:moveTo>
                <a:cubicBezTo>
                  <a:pt x="262466" y="273449"/>
                  <a:pt x="262533" y="270703"/>
                  <a:pt x="262533" y="267891"/>
                </a:cubicBezTo>
                <a:cubicBezTo>
                  <a:pt x="262533" y="164351"/>
                  <a:pt x="178549" y="80367"/>
                  <a:pt x="75009" y="80367"/>
                </a:cubicBezTo>
                <a:cubicBezTo>
                  <a:pt x="72263" y="80367"/>
                  <a:pt x="69451" y="80434"/>
                  <a:pt x="66705" y="80568"/>
                </a:cubicBezTo>
                <a:lnTo>
                  <a:pt x="335" y="329438"/>
                </a:lnTo>
                <a:cubicBezTo>
                  <a:pt x="-670" y="333122"/>
                  <a:pt x="402" y="337073"/>
                  <a:pt x="3081" y="339752"/>
                </a:cubicBezTo>
                <a:cubicBezTo>
                  <a:pt x="5760" y="342431"/>
                  <a:pt x="9711" y="343503"/>
                  <a:pt x="13395" y="342498"/>
                </a:cubicBezTo>
                <a:lnTo>
                  <a:pt x="262265" y="276128"/>
                </a:lnTo>
                <a:close/>
                <a:moveTo>
                  <a:pt x="117872" y="139303"/>
                </a:moveTo>
                <a:cubicBezTo>
                  <a:pt x="129700" y="139303"/>
                  <a:pt x="139303" y="148906"/>
                  <a:pt x="139303" y="160734"/>
                </a:cubicBezTo>
                <a:cubicBezTo>
                  <a:pt x="139303" y="172563"/>
                  <a:pt x="129700" y="182166"/>
                  <a:pt x="117872" y="182166"/>
                </a:cubicBezTo>
                <a:cubicBezTo>
                  <a:pt x="106044" y="182166"/>
                  <a:pt x="96441" y="172563"/>
                  <a:pt x="96441" y="160734"/>
                </a:cubicBezTo>
                <a:cubicBezTo>
                  <a:pt x="96441" y="148906"/>
                  <a:pt x="106044" y="139303"/>
                  <a:pt x="117872" y="139303"/>
                </a:cubicBezTo>
                <a:close/>
                <a:moveTo>
                  <a:pt x="160734" y="225028"/>
                </a:moveTo>
                <a:cubicBezTo>
                  <a:pt x="160734" y="213200"/>
                  <a:pt x="170337" y="203597"/>
                  <a:pt x="182166" y="203597"/>
                </a:cubicBezTo>
                <a:cubicBezTo>
                  <a:pt x="193994" y="203597"/>
                  <a:pt x="203597" y="213200"/>
                  <a:pt x="203597" y="225028"/>
                </a:cubicBezTo>
                <a:cubicBezTo>
                  <a:pt x="203597" y="236856"/>
                  <a:pt x="193994" y="246459"/>
                  <a:pt x="182166" y="246459"/>
                </a:cubicBezTo>
                <a:cubicBezTo>
                  <a:pt x="170337" y="246459"/>
                  <a:pt x="160734" y="236856"/>
                  <a:pt x="160734" y="225028"/>
                </a:cubicBezTo>
                <a:close/>
                <a:moveTo>
                  <a:pt x="64294" y="257175"/>
                </a:moveTo>
                <a:cubicBezTo>
                  <a:pt x="64294" y="245347"/>
                  <a:pt x="73897" y="235744"/>
                  <a:pt x="85725" y="235744"/>
                </a:cubicBezTo>
                <a:cubicBezTo>
                  <a:pt x="97553" y="235744"/>
                  <a:pt x="107156" y="245347"/>
                  <a:pt x="107156" y="257175"/>
                </a:cubicBezTo>
                <a:cubicBezTo>
                  <a:pt x="107156" y="269003"/>
                  <a:pt x="97553" y="278606"/>
                  <a:pt x="85725" y="278606"/>
                </a:cubicBezTo>
                <a:cubicBezTo>
                  <a:pt x="73897" y="278606"/>
                  <a:pt x="64294" y="269003"/>
                  <a:pt x="64294" y="257175"/>
                </a:cubicBezTo>
                <a:close/>
              </a:path>
            </a:pathLst>
          </a:custGeom>
          <a:solidFill>
            <a:srgbClr val="E8A95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0573" y="1752600"/>
            <a:ext cx="32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5400" y="16383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Business KPIs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9812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dashboard with core metrics: orders, revenue, and operational efficiency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57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3048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56880" y="31623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5400" y="30480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5400" y="33909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trends, cumulative revenue patterns, and financial stability indicators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42672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57833" y="45720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788A9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5400" y="4457700"/>
            <a:ext cx="403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5400" y="4800600"/>
            <a:ext cx="4019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Top-selling pizzas, category distribution, and pricing insights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9350" y="14478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1" name="Shape 19"/>
          <p:cNvSpPr/>
          <p:nvPr/>
        </p:nvSpPr>
        <p:spPr>
          <a:xfrm>
            <a:off x="64389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90348" y="175260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24700" y="1638300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Behavior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24700" y="1981200"/>
            <a:ext cx="4124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Ordering patterns, size preferences, and traffic timing 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26098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8900" y="2800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87847" y="291465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4700" y="28003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24700" y="314325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action plans for marketing, inventory, and growth optimization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4110" y="4023360"/>
            <a:ext cx="5589270" cy="1264920"/>
          </a:xfrm>
          <a:custGeom>
            <a:avLst/>
            <a:gdLst/>
            <a:ahLst/>
            <a:cxnLst/>
            <a:rect l="l" t="t" r="r" b="b"/>
            <a:pathLst>
              <a:path w="5589270" h="1264920">
                <a:moveTo>
                  <a:pt x="76199" y="0"/>
                </a:moveTo>
                <a:lnTo>
                  <a:pt x="5513071" y="0"/>
                </a:lnTo>
                <a:cubicBezTo>
                  <a:pt x="5555155" y="0"/>
                  <a:pt x="5589270" y="34115"/>
                  <a:pt x="5589270" y="76199"/>
                </a:cubicBezTo>
                <a:lnTo>
                  <a:pt x="5589270" y="1188721"/>
                </a:lnTo>
                <a:cubicBezTo>
                  <a:pt x="5589270" y="1230805"/>
                  <a:pt x="5555155" y="1264920"/>
                  <a:pt x="551307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56045" y="425577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2" name="Text 30"/>
          <p:cNvSpPr/>
          <p:nvPr/>
        </p:nvSpPr>
        <p:spPr>
          <a:xfrm>
            <a:off x="6760845" y="421767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8420" y="459867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analysis leverages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A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21,350 transactional orders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deliver actionable business intelligence for strategic decision-making.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71600"/>
            <a:ext cx="6229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828681"/>
            <a:ext cx="6191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comprehensive SQL-driven analysis evaluates end-to-end pizza sales performance using transactional order data. The objective is to identify revenue drivers, customer ordering behavior, high-performing products, and time-based demand trends to support data-driven business decisions.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971681"/>
            <a:ext cx="6191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leveraging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A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21,350+ orders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8A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$817,860 in revenue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we uncover actionable insights for operational optimization and strategic growth.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810" y="5093971"/>
            <a:ext cx="2979420" cy="1379220"/>
          </a:xfrm>
          <a:custGeom>
            <a:avLst/>
            <a:gdLst/>
            <a:ahLst/>
            <a:cxnLst/>
            <a:rect l="l" t="t" r="r" b="b"/>
            <a:pathLst>
              <a:path w="2979420" h="1379220">
                <a:moveTo>
                  <a:pt x="76202" y="0"/>
                </a:moveTo>
                <a:lnTo>
                  <a:pt x="2903218" y="0"/>
                </a:lnTo>
                <a:cubicBezTo>
                  <a:pt x="2945303" y="0"/>
                  <a:pt x="2979420" y="34117"/>
                  <a:pt x="2979420" y="76202"/>
                </a:cubicBezTo>
                <a:lnTo>
                  <a:pt x="2979420" y="1303018"/>
                </a:lnTo>
                <a:cubicBezTo>
                  <a:pt x="2979420" y="1345103"/>
                  <a:pt x="2945303" y="1379220"/>
                  <a:pt x="2903218" y="1379220"/>
                </a:cubicBezTo>
                <a:lnTo>
                  <a:pt x="76202" y="1379220"/>
                </a:lnTo>
                <a:cubicBezTo>
                  <a:pt x="34117" y="1379220"/>
                  <a:pt x="0" y="1345103"/>
                  <a:pt x="0" y="13030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739" y="528828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0" name="Text 8"/>
          <p:cNvSpPr/>
          <p:nvPr/>
        </p:nvSpPr>
        <p:spPr>
          <a:xfrm>
            <a:off x="893445" y="525018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1020" y="56311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SQL-based transactional database with daily order records, product details, pricing, and timing information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20440" y="5093971"/>
            <a:ext cx="2979420" cy="1379220"/>
          </a:xfrm>
          <a:custGeom>
            <a:avLst/>
            <a:gdLst/>
            <a:ahLst/>
            <a:cxnLst/>
            <a:rect l="l" t="t" r="r" b="b"/>
            <a:pathLst>
              <a:path w="2979420" h="1379220">
                <a:moveTo>
                  <a:pt x="76202" y="0"/>
                </a:moveTo>
                <a:lnTo>
                  <a:pt x="2903218" y="0"/>
                </a:lnTo>
                <a:cubicBezTo>
                  <a:pt x="2945303" y="0"/>
                  <a:pt x="2979420" y="34117"/>
                  <a:pt x="2979420" y="76202"/>
                </a:cubicBezTo>
                <a:lnTo>
                  <a:pt x="2979420" y="1303018"/>
                </a:lnTo>
                <a:cubicBezTo>
                  <a:pt x="2979420" y="1345103"/>
                  <a:pt x="2945303" y="1379220"/>
                  <a:pt x="2903218" y="1379220"/>
                </a:cubicBezTo>
                <a:lnTo>
                  <a:pt x="76202" y="1379220"/>
                </a:lnTo>
                <a:cubicBezTo>
                  <a:pt x="34117" y="1379220"/>
                  <a:pt x="0" y="1345103"/>
                  <a:pt x="0" y="13030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0463" y="52882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4" name="Text 12"/>
          <p:cNvSpPr/>
          <p:nvPr/>
        </p:nvSpPr>
        <p:spPr>
          <a:xfrm>
            <a:off x="4029075" y="525018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76650" y="56311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tracking, trend analysis, category segmentation, and behavioral pattern recognition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23710" y="1371600"/>
            <a:ext cx="4991100" cy="3048000"/>
          </a:xfrm>
          <a:custGeom>
            <a:avLst/>
            <a:gdLst/>
            <a:ahLst/>
            <a:cxnLst/>
            <a:rect l="l" t="t" r="r" b="b"/>
            <a:pathLst>
              <a:path w="4991100" h="3048000">
                <a:moveTo>
                  <a:pt x="38100" y="0"/>
                </a:moveTo>
                <a:lnTo>
                  <a:pt x="4914900" y="0"/>
                </a:lnTo>
                <a:cubicBezTo>
                  <a:pt x="4956956" y="0"/>
                  <a:pt x="4991100" y="34144"/>
                  <a:pt x="4991100" y="76200"/>
                </a:cubicBezTo>
                <a:lnTo>
                  <a:pt x="4991100" y="2971800"/>
                </a:lnTo>
                <a:cubicBezTo>
                  <a:pt x="4991100" y="3013856"/>
                  <a:pt x="4956956" y="3048000"/>
                  <a:pt x="4914900" y="3048000"/>
                </a:cubicBezTo>
                <a:lnTo>
                  <a:pt x="38100" y="3048000"/>
                </a:lnTo>
                <a:cubicBezTo>
                  <a:pt x="17072" y="3048000"/>
                  <a:pt x="0" y="3030928"/>
                  <a:pt x="0" y="3009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23710" y="1371600"/>
            <a:ext cx="38100" cy="3048000"/>
          </a:xfrm>
          <a:custGeom>
            <a:avLst/>
            <a:gdLst/>
            <a:ahLst/>
            <a:cxnLst/>
            <a:rect l="l" t="t" r="r" b="b"/>
            <a:pathLst>
              <a:path w="38100" h="3048000">
                <a:moveTo>
                  <a:pt x="38100" y="0"/>
                </a:moveTo>
                <a:lnTo>
                  <a:pt x="38100" y="0"/>
                </a:lnTo>
                <a:lnTo>
                  <a:pt x="38100" y="3048000"/>
                </a:lnTo>
                <a:lnTo>
                  <a:pt x="38100" y="3048000"/>
                </a:lnTo>
                <a:cubicBezTo>
                  <a:pt x="17072" y="3048000"/>
                  <a:pt x="0" y="3030928"/>
                  <a:pt x="0" y="3009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8" name="Text 16"/>
          <p:cNvSpPr/>
          <p:nvPr/>
        </p:nvSpPr>
        <p:spPr>
          <a:xfrm>
            <a:off x="7071360" y="16002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71360" y="205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5654" y="21145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260" y="201930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Revenue Stability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14260" y="224790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cumulative growth without major volatility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71360" y="2628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5654" y="2686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7414260" y="259080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Product Portfolio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14260" y="281940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categories contribute 23-27% of total revenue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71360" y="320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5654" y="32575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7414260" y="31623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Demand Patterns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14260" y="3390900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Lunch and dinner peaks drive 70%+ of daily orders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71360" y="377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2" name="Shape 30"/>
          <p:cNvSpPr/>
          <p:nvPr/>
        </p:nvSpPr>
        <p:spPr>
          <a:xfrm>
            <a:off x="7135654" y="38290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7414260" y="373380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Pricing Power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14260" y="396240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High-priced pizzas contribute significantly to AOV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08470" y="4960621"/>
            <a:ext cx="4998720" cy="1512570"/>
          </a:xfrm>
          <a:custGeom>
            <a:avLst/>
            <a:gdLst/>
            <a:ahLst/>
            <a:cxnLst/>
            <a:rect l="l" t="t" r="r" b="b"/>
            <a:pathLst>
              <a:path w="4998720" h="1512570">
                <a:moveTo>
                  <a:pt x="76203" y="0"/>
                </a:moveTo>
                <a:lnTo>
                  <a:pt x="4922517" y="0"/>
                </a:lnTo>
                <a:cubicBezTo>
                  <a:pt x="4964603" y="0"/>
                  <a:pt x="4998720" y="34117"/>
                  <a:pt x="4998720" y="76203"/>
                </a:cubicBezTo>
                <a:lnTo>
                  <a:pt x="4998720" y="1436367"/>
                </a:lnTo>
                <a:cubicBezTo>
                  <a:pt x="4998720" y="1478453"/>
                  <a:pt x="4964603" y="1512570"/>
                  <a:pt x="4922517" y="1512570"/>
                </a:cubicBezTo>
                <a:lnTo>
                  <a:pt x="76203" y="1512570"/>
                </a:lnTo>
                <a:cubicBezTo>
                  <a:pt x="34117" y="1512570"/>
                  <a:pt x="0" y="1478453"/>
                  <a:pt x="0" y="143636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14686" y="519303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7" name="Text 35"/>
          <p:cNvSpPr/>
          <p:nvPr/>
        </p:nvSpPr>
        <p:spPr>
          <a:xfrm>
            <a:off x="7355205" y="515493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02780" y="5535930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business demonstrates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predictable sales behavior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diversified revenue streams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operational consistency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—positioning it well for scalable growth.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Business KPIs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375410"/>
            <a:ext cx="2703195" cy="1722120"/>
          </a:xfrm>
          <a:custGeom>
            <a:avLst/>
            <a:gdLst/>
            <a:ahLst/>
            <a:cxnLst/>
            <a:rect l="l" t="t" r="r" b="b"/>
            <a:pathLst>
              <a:path w="2703195" h="1722120">
                <a:moveTo>
                  <a:pt x="76204" y="0"/>
                </a:moveTo>
                <a:lnTo>
                  <a:pt x="2626991" y="0"/>
                </a:lnTo>
                <a:cubicBezTo>
                  <a:pt x="2669077" y="0"/>
                  <a:pt x="2703195" y="34118"/>
                  <a:pt x="2703195" y="76204"/>
                </a:cubicBezTo>
                <a:lnTo>
                  <a:pt x="2703195" y="1645916"/>
                </a:lnTo>
                <a:cubicBezTo>
                  <a:pt x="2703195" y="1688002"/>
                  <a:pt x="2669077" y="1722120"/>
                  <a:pt x="2626991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5697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" name="Shape 5"/>
          <p:cNvSpPr/>
          <p:nvPr/>
        </p:nvSpPr>
        <p:spPr>
          <a:xfrm>
            <a:off x="2783205" y="162687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8" name="Text 6"/>
          <p:cNvSpPr/>
          <p:nvPr/>
        </p:nvSpPr>
        <p:spPr>
          <a:xfrm>
            <a:off x="579120" y="195072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Orders Placed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255520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21,350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71272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order history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89935" y="1375410"/>
            <a:ext cx="2703195" cy="1722120"/>
          </a:xfrm>
          <a:custGeom>
            <a:avLst/>
            <a:gdLst/>
            <a:ahLst/>
            <a:cxnLst/>
            <a:rect l="l" t="t" r="r" b="b"/>
            <a:pathLst>
              <a:path w="2703195" h="1722120">
                <a:moveTo>
                  <a:pt x="76204" y="0"/>
                </a:moveTo>
                <a:lnTo>
                  <a:pt x="2626991" y="0"/>
                </a:lnTo>
                <a:cubicBezTo>
                  <a:pt x="2669077" y="0"/>
                  <a:pt x="2703195" y="34118"/>
                  <a:pt x="2703195" y="76204"/>
                </a:cubicBezTo>
                <a:lnTo>
                  <a:pt x="2703195" y="1645916"/>
                </a:lnTo>
                <a:cubicBezTo>
                  <a:pt x="2703195" y="1688002"/>
                  <a:pt x="2669077" y="1722120"/>
                  <a:pt x="2626991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016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5683" y="156972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88330" y="162687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4" name="Text 12"/>
          <p:cNvSpPr/>
          <p:nvPr/>
        </p:nvSpPr>
        <p:spPr>
          <a:xfrm>
            <a:off x="3484245" y="195072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 Generated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84245" y="2255520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$817,860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84245" y="271272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sales revenue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060" y="1375410"/>
            <a:ext cx="2703195" cy="1722120"/>
          </a:xfrm>
          <a:custGeom>
            <a:avLst/>
            <a:gdLst/>
            <a:ahLst/>
            <a:cxnLst/>
            <a:rect l="l" t="t" r="r" b="b"/>
            <a:pathLst>
              <a:path w="2703195" h="1722120">
                <a:moveTo>
                  <a:pt x="76204" y="0"/>
                </a:moveTo>
                <a:lnTo>
                  <a:pt x="2626991" y="0"/>
                </a:lnTo>
                <a:cubicBezTo>
                  <a:pt x="2669077" y="0"/>
                  <a:pt x="2703195" y="34118"/>
                  <a:pt x="2703195" y="76204"/>
                </a:cubicBezTo>
                <a:lnTo>
                  <a:pt x="2703195" y="1645916"/>
                </a:lnTo>
                <a:cubicBezTo>
                  <a:pt x="2703195" y="1688002"/>
                  <a:pt x="2669077" y="1722120"/>
                  <a:pt x="2626991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7945" y="15697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5768" y="402"/>
                </a:moveTo>
                <a:cubicBezTo>
                  <a:pt x="65589" y="-313"/>
                  <a:pt x="57061" y="6653"/>
                  <a:pt x="54560" y="15895"/>
                </a:cubicBezTo>
                <a:lnTo>
                  <a:pt x="50229" y="32147"/>
                </a:lnTo>
                <a:cubicBezTo>
                  <a:pt x="130954" y="32281"/>
                  <a:pt x="196319" y="97646"/>
                  <a:pt x="196453" y="178371"/>
                </a:cubicBezTo>
                <a:lnTo>
                  <a:pt x="212705" y="174040"/>
                </a:lnTo>
                <a:cubicBezTo>
                  <a:pt x="221992" y="171584"/>
                  <a:pt x="228913" y="163011"/>
                  <a:pt x="228198" y="152832"/>
                </a:cubicBezTo>
                <a:cubicBezTo>
                  <a:pt x="222572" y="71214"/>
                  <a:pt x="157386" y="6028"/>
                  <a:pt x="75768" y="402"/>
                </a:cubicBezTo>
                <a:close/>
                <a:moveTo>
                  <a:pt x="174888" y="184130"/>
                </a:moveTo>
                <a:cubicBezTo>
                  <a:pt x="174977" y="182300"/>
                  <a:pt x="175022" y="180469"/>
                  <a:pt x="175022" y="178594"/>
                </a:cubicBezTo>
                <a:cubicBezTo>
                  <a:pt x="175022" y="109567"/>
                  <a:pt x="119033" y="53578"/>
                  <a:pt x="50006" y="53578"/>
                </a:cubicBezTo>
                <a:cubicBezTo>
                  <a:pt x="48176" y="53578"/>
                  <a:pt x="46300" y="53623"/>
                  <a:pt x="44470" y="53712"/>
                </a:cubicBezTo>
                <a:lnTo>
                  <a:pt x="223" y="219626"/>
                </a:lnTo>
                <a:cubicBezTo>
                  <a:pt x="-446" y="222081"/>
                  <a:pt x="268" y="224716"/>
                  <a:pt x="2054" y="226502"/>
                </a:cubicBezTo>
                <a:cubicBezTo>
                  <a:pt x="3840" y="228287"/>
                  <a:pt x="6474" y="229002"/>
                  <a:pt x="8930" y="228332"/>
                </a:cubicBezTo>
                <a:lnTo>
                  <a:pt x="174843" y="184086"/>
                </a:lnTo>
                <a:close/>
                <a:moveTo>
                  <a:pt x="78581" y="92869"/>
                </a:moveTo>
                <a:cubicBezTo>
                  <a:pt x="86467" y="92869"/>
                  <a:pt x="92869" y="99271"/>
                  <a:pt x="92869" y="107156"/>
                </a:cubicBezTo>
                <a:cubicBezTo>
                  <a:pt x="92869" y="115042"/>
                  <a:pt x="86467" y="121444"/>
                  <a:pt x="78581" y="121444"/>
                </a:cubicBezTo>
                <a:cubicBezTo>
                  <a:pt x="70696" y="121444"/>
                  <a:pt x="64294" y="115042"/>
                  <a:pt x="64294" y="107156"/>
                </a:cubicBezTo>
                <a:cubicBezTo>
                  <a:pt x="64294" y="99271"/>
                  <a:pt x="70696" y="92869"/>
                  <a:pt x="78581" y="92869"/>
                </a:cubicBezTo>
                <a:close/>
                <a:moveTo>
                  <a:pt x="107156" y="150019"/>
                </a:moveTo>
                <a:cubicBezTo>
                  <a:pt x="107156" y="142133"/>
                  <a:pt x="113558" y="135731"/>
                  <a:pt x="121444" y="135731"/>
                </a:cubicBezTo>
                <a:cubicBezTo>
                  <a:pt x="129329" y="135731"/>
                  <a:pt x="135731" y="142133"/>
                  <a:pt x="135731" y="150019"/>
                </a:cubicBezTo>
                <a:cubicBezTo>
                  <a:pt x="135731" y="157904"/>
                  <a:pt x="129329" y="164306"/>
                  <a:pt x="121444" y="164306"/>
                </a:cubicBezTo>
                <a:cubicBezTo>
                  <a:pt x="113558" y="164306"/>
                  <a:pt x="107156" y="157904"/>
                  <a:pt x="107156" y="150019"/>
                </a:cubicBezTo>
                <a:close/>
                <a:moveTo>
                  <a:pt x="42863" y="171450"/>
                </a:moveTo>
                <a:cubicBezTo>
                  <a:pt x="42863" y="163565"/>
                  <a:pt x="49265" y="157163"/>
                  <a:pt x="57150" y="157163"/>
                </a:cubicBezTo>
                <a:cubicBezTo>
                  <a:pt x="65035" y="157163"/>
                  <a:pt x="71438" y="163565"/>
                  <a:pt x="71438" y="171450"/>
                </a:cubicBezTo>
                <a:cubicBezTo>
                  <a:pt x="71438" y="179335"/>
                  <a:pt x="65035" y="185738"/>
                  <a:pt x="57150" y="185738"/>
                </a:cubicBezTo>
                <a:cubicBezTo>
                  <a:pt x="49265" y="185738"/>
                  <a:pt x="42863" y="179335"/>
                  <a:pt x="42863" y="17145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3455" y="162687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0" name="Text 18"/>
          <p:cNvSpPr/>
          <p:nvPr/>
        </p:nvSpPr>
        <p:spPr>
          <a:xfrm>
            <a:off x="6389370" y="195072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Daily Orders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9370" y="2255520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~138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9370" y="271272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Pizzas per day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00185" y="1375410"/>
            <a:ext cx="2703195" cy="1722120"/>
          </a:xfrm>
          <a:custGeom>
            <a:avLst/>
            <a:gdLst/>
            <a:ahLst/>
            <a:cxnLst/>
            <a:rect l="l" t="t" r="r" b="b"/>
            <a:pathLst>
              <a:path w="2703195" h="1722120">
                <a:moveTo>
                  <a:pt x="76204" y="0"/>
                </a:moveTo>
                <a:lnTo>
                  <a:pt x="2626991" y="0"/>
                </a:lnTo>
                <a:cubicBezTo>
                  <a:pt x="2669077" y="0"/>
                  <a:pt x="2703195" y="34118"/>
                  <a:pt x="2703195" y="76204"/>
                </a:cubicBezTo>
                <a:lnTo>
                  <a:pt x="2703195" y="1645916"/>
                </a:lnTo>
                <a:cubicBezTo>
                  <a:pt x="2703195" y="1688002"/>
                  <a:pt x="2669077" y="1722120"/>
                  <a:pt x="2626991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7357" y="15697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98581" y="162687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6" name="Text 24"/>
          <p:cNvSpPr/>
          <p:nvPr/>
        </p:nvSpPr>
        <p:spPr>
          <a:xfrm>
            <a:off x="9294495" y="195072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Span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94495" y="2255520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Full Period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94495" y="271272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transactional 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3329941"/>
            <a:ext cx="6877050" cy="3371850"/>
          </a:xfrm>
          <a:custGeom>
            <a:avLst/>
            <a:gdLst/>
            <a:ahLst/>
            <a:cxnLst/>
            <a:rect l="l" t="t" r="r" b="b"/>
            <a:pathLst>
              <a:path w="6877050" h="3371850">
                <a:moveTo>
                  <a:pt x="76204" y="0"/>
                </a:moveTo>
                <a:lnTo>
                  <a:pt x="6800846" y="0"/>
                </a:lnTo>
                <a:cubicBezTo>
                  <a:pt x="6842932" y="0"/>
                  <a:pt x="6877050" y="34118"/>
                  <a:pt x="6877050" y="76204"/>
                </a:cubicBezTo>
                <a:lnTo>
                  <a:pt x="6877050" y="3295646"/>
                </a:lnTo>
                <a:cubicBezTo>
                  <a:pt x="6877050" y="3337732"/>
                  <a:pt x="6842932" y="3371850"/>
                  <a:pt x="6800846" y="3371850"/>
                </a:cubicBezTo>
                <a:lnTo>
                  <a:pt x="76204" y="3371850"/>
                </a:lnTo>
                <a:cubicBezTo>
                  <a:pt x="34118" y="3371850"/>
                  <a:pt x="0" y="3337732"/>
                  <a:pt x="0" y="32956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71500" y="3520441"/>
            <a:ext cx="659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Performance Metrics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1500" y="3939541"/>
            <a:ext cx="3171825" cy="1143000"/>
          </a:xfrm>
          <a:custGeom>
            <a:avLst/>
            <a:gdLst/>
            <a:ahLst/>
            <a:cxnLst/>
            <a:rect l="l" t="t" r="r" b="b"/>
            <a:pathLst>
              <a:path w="3171825" h="1143000">
                <a:moveTo>
                  <a:pt x="76204" y="0"/>
                </a:moveTo>
                <a:lnTo>
                  <a:pt x="3095621" y="0"/>
                </a:lnTo>
                <a:cubicBezTo>
                  <a:pt x="3137707" y="0"/>
                  <a:pt x="3171825" y="34118"/>
                  <a:pt x="3171825" y="76204"/>
                </a:cubicBezTo>
                <a:lnTo>
                  <a:pt x="3171825" y="1066796"/>
                </a:lnTo>
                <a:cubicBezTo>
                  <a:pt x="3171825" y="1108882"/>
                  <a:pt x="3137707" y="1143000"/>
                  <a:pt x="309562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23900" y="4091941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3900" y="4396741"/>
            <a:ext cx="3009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$38.31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3900" y="4853941"/>
            <a:ext cx="2867025" cy="76200"/>
          </a:xfrm>
          <a:custGeom>
            <a:avLst/>
            <a:gdLst/>
            <a:ahLst/>
            <a:cxnLst/>
            <a:rect l="l" t="t" r="r" b="b"/>
            <a:pathLst>
              <a:path w="2867025" h="76200">
                <a:moveTo>
                  <a:pt x="38100" y="0"/>
                </a:moveTo>
                <a:lnTo>
                  <a:pt x="2828925" y="0"/>
                </a:lnTo>
                <a:cubicBezTo>
                  <a:pt x="2849953" y="0"/>
                  <a:pt x="2867025" y="17072"/>
                  <a:pt x="2867025" y="38100"/>
                </a:cubicBezTo>
                <a:lnTo>
                  <a:pt x="2867025" y="38100"/>
                </a:lnTo>
                <a:cubicBezTo>
                  <a:pt x="2867025" y="59128"/>
                  <a:pt x="2849953" y="76200"/>
                  <a:pt x="2828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3900" y="4853941"/>
            <a:ext cx="2181225" cy="76200"/>
          </a:xfrm>
          <a:custGeom>
            <a:avLst/>
            <a:gdLst/>
            <a:ahLst/>
            <a:cxnLst/>
            <a:rect l="l" t="t" r="r" b="b"/>
            <a:pathLst>
              <a:path w="2181225" h="76200">
                <a:moveTo>
                  <a:pt x="38100" y="0"/>
                </a:moveTo>
                <a:lnTo>
                  <a:pt x="2143125" y="0"/>
                </a:lnTo>
                <a:cubicBezTo>
                  <a:pt x="2164153" y="0"/>
                  <a:pt x="2181225" y="17072"/>
                  <a:pt x="2181225" y="38100"/>
                </a:cubicBezTo>
                <a:lnTo>
                  <a:pt x="2181225" y="38100"/>
                </a:lnTo>
                <a:cubicBezTo>
                  <a:pt x="2181225" y="59128"/>
                  <a:pt x="2164153" y="76200"/>
                  <a:pt x="21431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6" name="Shape 34"/>
          <p:cNvSpPr/>
          <p:nvPr/>
        </p:nvSpPr>
        <p:spPr>
          <a:xfrm>
            <a:off x="3893820" y="3939541"/>
            <a:ext cx="3171825" cy="1143000"/>
          </a:xfrm>
          <a:custGeom>
            <a:avLst/>
            <a:gdLst/>
            <a:ahLst/>
            <a:cxnLst/>
            <a:rect l="l" t="t" r="r" b="b"/>
            <a:pathLst>
              <a:path w="3171825" h="1143000">
                <a:moveTo>
                  <a:pt x="76204" y="0"/>
                </a:moveTo>
                <a:lnTo>
                  <a:pt x="3095621" y="0"/>
                </a:lnTo>
                <a:cubicBezTo>
                  <a:pt x="3137707" y="0"/>
                  <a:pt x="3171825" y="34118"/>
                  <a:pt x="3171825" y="76204"/>
                </a:cubicBezTo>
                <a:lnTo>
                  <a:pt x="3171825" y="1066796"/>
                </a:lnTo>
                <a:cubicBezTo>
                  <a:pt x="3171825" y="1108882"/>
                  <a:pt x="3137707" y="1143000"/>
                  <a:pt x="309562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046220" y="4091941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per Pizza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046220" y="4396741"/>
            <a:ext cx="3009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$18.20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046220" y="4853941"/>
            <a:ext cx="2867025" cy="76200"/>
          </a:xfrm>
          <a:custGeom>
            <a:avLst/>
            <a:gdLst/>
            <a:ahLst/>
            <a:cxnLst/>
            <a:rect l="l" t="t" r="r" b="b"/>
            <a:pathLst>
              <a:path w="2867025" h="76200">
                <a:moveTo>
                  <a:pt x="38100" y="0"/>
                </a:moveTo>
                <a:lnTo>
                  <a:pt x="2828925" y="0"/>
                </a:lnTo>
                <a:cubicBezTo>
                  <a:pt x="2849953" y="0"/>
                  <a:pt x="2867025" y="17072"/>
                  <a:pt x="2867025" y="38100"/>
                </a:cubicBezTo>
                <a:lnTo>
                  <a:pt x="2867025" y="38100"/>
                </a:lnTo>
                <a:cubicBezTo>
                  <a:pt x="2867025" y="59128"/>
                  <a:pt x="2849953" y="76200"/>
                  <a:pt x="2828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46220" y="4853941"/>
            <a:ext cx="2066925" cy="76200"/>
          </a:xfrm>
          <a:custGeom>
            <a:avLst/>
            <a:gdLst/>
            <a:ahLst/>
            <a:cxnLst/>
            <a:rect l="l" t="t" r="r" b="b"/>
            <a:pathLst>
              <a:path w="2066925" h="76200">
                <a:moveTo>
                  <a:pt x="38100" y="0"/>
                </a:moveTo>
                <a:lnTo>
                  <a:pt x="2028825" y="0"/>
                </a:lnTo>
                <a:cubicBezTo>
                  <a:pt x="2049853" y="0"/>
                  <a:pt x="2066925" y="17072"/>
                  <a:pt x="2066925" y="38100"/>
                </a:cubicBezTo>
                <a:lnTo>
                  <a:pt x="2066925" y="38100"/>
                </a:lnTo>
                <a:cubicBezTo>
                  <a:pt x="2066925" y="59128"/>
                  <a:pt x="2049853" y="76200"/>
                  <a:pt x="20288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" y="5234941"/>
            <a:ext cx="3171825" cy="1143000"/>
          </a:xfrm>
          <a:custGeom>
            <a:avLst/>
            <a:gdLst/>
            <a:ahLst/>
            <a:cxnLst/>
            <a:rect l="l" t="t" r="r" b="b"/>
            <a:pathLst>
              <a:path w="3171825" h="1143000">
                <a:moveTo>
                  <a:pt x="76204" y="0"/>
                </a:moveTo>
                <a:lnTo>
                  <a:pt x="3095621" y="0"/>
                </a:lnTo>
                <a:cubicBezTo>
                  <a:pt x="3137707" y="0"/>
                  <a:pt x="3171825" y="34118"/>
                  <a:pt x="3171825" y="76204"/>
                </a:cubicBezTo>
                <a:lnTo>
                  <a:pt x="3171825" y="1066796"/>
                </a:lnTo>
                <a:cubicBezTo>
                  <a:pt x="3171825" y="1108882"/>
                  <a:pt x="3137707" y="1143000"/>
                  <a:pt x="309562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23900" y="5387341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Pizzas Sold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3900" y="5692141"/>
            <a:ext cx="3009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44,928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3900" y="6149341"/>
            <a:ext cx="2867025" cy="76200"/>
          </a:xfrm>
          <a:custGeom>
            <a:avLst/>
            <a:gdLst/>
            <a:ahLst/>
            <a:cxnLst/>
            <a:rect l="l" t="t" r="r" b="b"/>
            <a:pathLst>
              <a:path w="2867025" h="76200">
                <a:moveTo>
                  <a:pt x="38100" y="0"/>
                </a:moveTo>
                <a:lnTo>
                  <a:pt x="2828925" y="0"/>
                </a:lnTo>
                <a:cubicBezTo>
                  <a:pt x="2849953" y="0"/>
                  <a:pt x="2867025" y="17072"/>
                  <a:pt x="2867025" y="38100"/>
                </a:cubicBezTo>
                <a:lnTo>
                  <a:pt x="2867025" y="38100"/>
                </a:lnTo>
                <a:cubicBezTo>
                  <a:pt x="2867025" y="59128"/>
                  <a:pt x="2849953" y="76200"/>
                  <a:pt x="2828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3900" y="6149341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38100" y="0"/>
                </a:moveTo>
                <a:lnTo>
                  <a:pt x="2400300" y="0"/>
                </a:lnTo>
                <a:cubicBezTo>
                  <a:pt x="2421328" y="0"/>
                  <a:pt x="2438400" y="17072"/>
                  <a:pt x="2438400" y="38100"/>
                </a:cubicBezTo>
                <a:lnTo>
                  <a:pt x="2438400" y="38100"/>
                </a:lnTo>
                <a:cubicBezTo>
                  <a:pt x="2438400" y="59128"/>
                  <a:pt x="2421328" y="76200"/>
                  <a:pt x="2400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6" name="Shape 44"/>
          <p:cNvSpPr/>
          <p:nvPr/>
        </p:nvSpPr>
        <p:spPr>
          <a:xfrm>
            <a:off x="3893820" y="5234941"/>
            <a:ext cx="3171825" cy="1143000"/>
          </a:xfrm>
          <a:custGeom>
            <a:avLst/>
            <a:gdLst/>
            <a:ahLst/>
            <a:cxnLst/>
            <a:rect l="l" t="t" r="r" b="b"/>
            <a:pathLst>
              <a:path w="3171825" h="1143000">
                <a:moveTo>
                  <a:pt x="76204" y="0"/>
                </a:moveTo>
                <a:lnTo>
                  <a:pt x="3095621" y="0"/>
                </a:lnTo>
                <a:cubicBezTo>
                  <a:pt x="3137707" y="0"/>
                  <a:pt x="3171825" y="34118"/>
                  <a:pt x="3171825" y="76204"/>
                </a:cubicBezTo>
                <a:lnTo>
                  <a:pt x="3171825" y="1066796"/>
                </a:lnTo>
                <a:cubicBezTo>
                  <a:pt x="3171825" y="1108882"/>
                  <a:pt x="3137707" y="1143000"/>
                  <a:pt x="309562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046220" y="5387341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Pizzas per Order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046220" y="5692141"/>
            <a:ext cx="3009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2.10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046220" y="6149341"/>
            <a:ext cx="2867025" cy="76200"/>
          </a:xfrm>
          <a:custGeom>
            <a:avLst/>
            <a:gdLst/>
            <a:ahLst/>
            <a:cxnLst/>
            <a:rect l="l" t="t" r="r" b="b"/>
            <a:pathLst>
              <a:path w="2867025" h="76200">
                <a:moveTo>
                  <a:pt x="38100" y="0"/>
                </a:moveTo>
                <a:lnTo>
                  <a:pt x="2828925" y="0"/>
                </a:lnTo>
                <a:cubicBezTo>
                  <a:pt x="2849953" y="0"/>
                  <a:pt x="2867025" y="17072"/>
                  <a:pt x="2867025" y="38100"/>
                </a:cubicBezTo>
                <a:lnTo>
                  <a:pt x="2867025" y="38100"/>
                </a:lnTo>
                <a:cubicBezTo>
                  <a:pt x="2867025" y="59128"/>
                  <a:pt x="2849953" y="76200"/>
                  <a:pt x="2828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046220" y="6149341"/>
            <a:ext cx="1952625" cy="76200"/>
          </a:xfrm>
          <a:custGeom>
            <a:avLst/>
            <a:gdLst/>
            <a:ahLst/>
            <a:cxnLst/>
            <a:rect l="l" t="t" r="r" b="b"/>
            <a:pathLst>
              <a:path w="1952625" h="76200">
                <a:moveTo>
                  <a:pt x="38100" y="0"/>
                </a:moveTo>
                <a:lnTo>
                  <a:pt x="1914525" y="0"/>
                </a:lnTo>
                <a:cubicBezTo>
                  <a:pt x="1935553" y="0"/>
                  <a:pt x="1952625" y="17072"/>
                  <a:pt x="1952625" y="38100"/>
                </a:cubicBezTo>
                <a:lnTo>
                  <a:pt x="1952625" y="38100"/>
                </a:lnTo>
                <a:cubicBezTo>
                  <a:pt x="1952625" y="59128"/>
                  <a:pt x="1935553" y="76200"/>
                  <a:pt x="19145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1" name="Shape 49"/>
          <p:cNvSpPr/>
          <p:nvPr/>
        </p:nvSpPr>
        <p:spPr>
          <a:xfrm>
            <a:off x="7501890" y="3329941"/>
            <a:ext cx="4305300" cy="1600200"/>
          </a:xfrm>
          <a:custGeom>
            <a:avLst/>
            <a:gdLst/>
            <a:ahLst/>
            <a:cxnLst/>
            <a:rect l="l" t="t" r="r" b="b"/>
            <a:pathLst>
              <a:path w="4305300" h="1600200">
                <a:moveTo>
                  <a:pt x="38100" y="0"/>
                </a:moveTo>
                <a:lnTo>
                  <a:pt x="4229098" y="0"/>
                </a:lnTo>
                <a:cubicBezTo>
                  <a:pt x="4271183" y="0"/>
                  <a:pt x="4305300" y="34117"/>
                  <a:pt x="4305300" y="76202"/>
                </a:cubicBezTo>
                <a:lnTo>
                  <a:pt x="4305300" y="1523998"/>
                </a:lnTo>
                <a:cubicBezTo>
                  <a:pt x="4305300" y="1566083"/>
                  <a:pt x="4271183" y="1600200"/>
                  <a:pt x="422909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01890" y="3329941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3" name="Text 51"/>
          <p:cNvSpPr/>
          <p:nvPr/>
        </p:nvSpPr>
        <p:spPr>
          <a:xfrm>
            <a:off x="7711440" y="3520441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Highlights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747159" y="394906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5" name="Text 53"/>
          <p:cNvSpPr/>
          <p:nvPr/>
        </p:nvSpPr>
        <p:spPr>
          <a:xfrm>
            <a:off x="7954328" y="3901441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daily operations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747159" y="425386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7" name="Text 55"/>
          <p:cNvSpPr/>
          <p:nvPr/>
        </p:nvSpPr>
        <p:spPr>
          <a:xfrm>
            <a:off x="7954328" y="4206241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revenue flow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747159" y="455866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9" name="Text 57"/>
          <p:cNvSpPr/>
          <p:nvPr/>
        </p:nvSpPr>
        <p:spPr>
          <a:xfrm>
            <a:off x="7954328" y="4511041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order frequency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486650" y="5086351"/>
            <a:ext cx="4322445" cy="1607820"/>
          </a:xfrm>
          <a:custGeom>
            <a:avLst/>
            <a:gdLst/>
            <a:ahLst/>
            <a:cxnLst/>
            <a:rect l="l" t="t" r="r" b="b"/>
            <a:pathLst>
              <a:path w="4322445" h="1607820">
                <a:moveTo>
                  <a:pt x="76195" y="0"/>
                </a:moveTo>
                <a:lnTo>
                  <a:pt x="4246250" y="0"/>
                </a:lnTo>
                <a:cubicBezTo>
                  <a:pt x="4288332" y="0"/>
                  <a:pt x="4322445" y="34113"/>
                  <a:pt x="4322445" y="76195"/>
                </a:cubicBezTo>
                <a:lnTo>
                  <a:pt x="4322445" y="1531625"/>
                </a:lnTo>
                <a:cubicBezTo>
                  <a:pt x="4322445" y="1573707"/>
                  <a:pt x="4288332" y="1607820"/>
                  <a:pt x="4246250" y="1607820"/>
                </a:cubicBezTo>
                <a:lnTo>
                  <a:pt x="76195" y="1607820"/>
                </a:lnTo>
                <a:cubicBezTo>
                  <a:pt x="34113" y="1607820"/>
                  <a:pt x="0" y="1573707"/>
                  <a:pt x="0" y="15316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5280661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700010" y="57092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3" name="Text 61"/>
          <p:cNvSpPr/>
          <p:nvPr/>
        </p:nvSpPr>
        <p:spPr>
          <a:xfrm>
            <a:off x="7923848" y="5661661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transactional coverage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700010" y="60140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5" name="Text 63"/>
          <p:cNvSpPr/>
          <p:nvPr/>
        </p:nvSpPr>
        <p:spPr>
          <a:xfrm>
            <a:off x="7923848" y="5966461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order tracking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700010" y="63188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67" name="Text 65"/>
          <p:cNvSpPr/>
          <p:nvPr/>
        </p:nvSpPr>
        <p:spPr>
          <a:xfrm>
            <a:off x="7923848" y="6271261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accuracy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Revenue Analysis &amp; Growth Trends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7277100" cy="5105400"/>
          </a:xfrm>
          <a:custGeom>
            <a:avLst/>
            <a:gdLst/>
            <a:ahLst/>
            <a:cxnLst/>
            <a:rect l="l" t="t" r="r" b="b"/>
            <a:pathLst>
              <a:path w="7277100" h="5105400">
                <a:moveTo>
                  <a:pt x="76224" y="0"/>
                </a:moveTo>
                <a:lnTo>
                  <a:pt x="7200876" y="0"/>
                </a:lnTo>
                <a:cubicBezTo>
                  <a:pt x="7242974" y="0"/>
                  <a:pt x="7277100" y="34126"/>
                  <a:pt x="7277100" y="76224"/>
                </a:cubicBezTo>
                <a:lnTo>
                  <a:pt x="7277100" y="5029176"/>
                </a:lnTo>
                <a:cubicBezTo>
                  <a:pt x="7277100" y="5071274"/>
                  <a:pt x="7242974" y="5105400"/>
                  <a:pt x="7200876" y="5105400"/>
                </a:cubicBezTo>
                <a:lnTo>
                  <a:pt x="76224" y="5105400"/>
                </a:lnTo>
                <a:cubicBezTo>
                  <a:pt x="34126" y="5105400"/>
                  <a:pt x="0" y="5071274"/>
                  <a:pt x="0" y="5029176"/>
                </a:cubicBezTo>
                <a:lnTo>
                  <a:pt x="0" y="76224"/>
                </a:lnTo>
                <a:cubicBezTo>
                  <a:pt x="0" y="34155"/>
                  <a:pt x="34155" y="0"/>
                  <a:pt x="76224" y="0"/>
                </a:cubicBezTo>
                <a:close/>
              </a:path>
            </a:pathLst>
          </a:custGeom>
          <a:solidFill>
            <a:srgbClr val="2D3136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62100"/>
            <a:ext cx="699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Cumulative Revenue Growth Over Time</a:t>
            </a:r>
            <a:endParaRPr lang="en-US" sz="1600" dirty="0"/>
          </a:p>
        </p:txBody>
      </p:sp>
      <p:pic>
        <p:nvPicPr>
          <p:cNvPr id="7" name="Image 0" descr="https://kimi-img.moonshot.cn/pub/slides/26-02-01-23:08:33-d5vmoseqvl7c6fsf1vu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943100"/>
            <a:ext cx="6896100" cy="36195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909560" y="1371600"/>
            <a:ext cx="3905250" cy="2019300"/>
          </a:xfrm>
          <a:custGeom>
            <a:avLst/>
            <a:gdLst/>
            <a:ahLst/>
            <a:cxnLst/>
            <a:rect l="l" t="t" r="r" b="b"/>
            <a:pathLst>
              <a:path w="3905250" h="2019300">
                <a:moveTo>
                  <a:pt x="38100" y="0"/>
                </a:moveTo>
                <a:lnTo>
                  <a:pt x="3829042" y="0"/>
                </a:lnTo>
                <a:cubicBezTo>
                  <a:pt x="3871130" y="0"/>
                  <a:pt x="3905250" y="34120"/>
                  <a:pt x="3905250" y="76208"/>
                </a:cubicBezTo>
                <a:lnTo>
                  <a:pt x="3905250" y="1943092"/>
                </a:lnTo>
                <a:cubicBezTo>
                  <a:pt x="3905250" y="1985180"/>
                  <a:pt x="3871130" y="2019300"/>
                  <a:pt x="3829042" y="2019300"/>
                </a:cubicBezTo>
                <a:lnTo>
                  <a:pt x="38100" y="2019300"/>
                </a:lnTo>
                <a:cubicBezTo>
                  <a:pt x="17058" y="2019300"/>
                  <a:pt x="0" y="2002242"/>
                  <a:pt x="0" y="1981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909560" y="1371600"/>
            <a:ext cx="38100" cy="2019300"/>
          </a:xfrm>
          <a:custGeom>
            <a:avLst/>
            <a:gdLst/>
            <a:ahLst/>
            <a:cxnLst/>
            <a:rect l="l" t="t" r="r" b="b"/>
            <a:pathLst>
              <a:path w="38100" h="2019300">
                <a:moveTo>
                  <a:pt x="38100" y="0"/>
                </a:moveTo>
                <a:lnTo>
                  <a:pt x="38100" y="0"/>
                </a:lnTo>
                <a:lnTo>
                  <a:pt x="38100" y="2019300"/>
                </a:lnTo>
                <a:lnTo>
                  <a:pt x="38100" y="2019300"/>
                </a:lnTo>
                <a:cubicBezTo>
                  <a:pt x="17072" y="2019300"/>
                  <a:pt x="0" y="2002228"/>
                  <a:pt x="0" y="1981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0" name="Text 7"/>
          <p:cNvSpPr/>
          <p:nvPr/>
        </p:nvSpPr>
        <p:spPr>
          <a:xfrm>
            <a:off x="8119110" y="15621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19110" y="19812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$817,860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19110" y="2514600"/>
            <a:ext cx="358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is consistently generated across time, showing stable daily sales performance with cumulative growth.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94320" y="3547110"/>
            <a:ext cx="3912870" cy="2922270"/>
          </a:xfrm>
          <a:custGeom>
            <a:avLst/>
            <a:gdLst/>
            <a:ahLst/>
            <a:cxnLst/>
            <a:rect l="l" t="t" r="r" b="b"/>
            <a:pathLst>
              <a:path w="3912870" h="2922270">
                <a:moveTo>
                  <a:pt x="76213" y="0"/>
                </a:moveTo>
                <a:lnTo>
                  <a:pt x="3836657" y="0"/>
                </a:lnTo>
                <a:cubicBezTo>
                  <a:pt x="3878748" y="0"/>
                  <a:pt x="3912870" y="34122"/>
                  <a:pt x="3912870" y="76213"/>
                </a:cubicBezTo>
                <a:lnTo>
                  <a:pt x="3912870" y="2846057"/>
                </a:lnTo>
                <a:cubicBezTo>
                  <a:pt x="3912870" y="2888148"/>
                  <a:pt x="3878748" y="2922270"/>
                  <a:pt x="3836657" y="2922270"/>
                </a:cubicBezTo>
                <a:lnTo>
                  <a:pt x="76213" y="2922270"/>
                </a:lnTo>
                <a:cubicBezTo>
                  <a:pt x="34122" y="2922270"/>
                  <a:pt x="0" y="2888148"/>
                  <a:pt x="0" y="2846057"/>
                </a:cubicBezTo>
                <a:lnTo>
                  <a:pt x="0" y="76213"/>
                </a:lnTo>
                <a:cubicBezTo>
                  <a:pt x="0" y="34122"/>
                  <a:pt x="34122" y="0"/>
                  <a:pt x="7621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88630" y="3741420"/>
            <a:ext cx="3609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Stability Indicators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88630" y="41605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176736" y="424624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7" name="Text 14"/>
          <p:cNvSpPr/>
          <p:nvPr/>
        </p:nvSpPr>
        <p:spPr>
          <a:xfrm>
            <a:off x="8507730" y="416052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Steady Growth Pattern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07730" y="4389120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increases consistently without major drops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88630" y="46939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176736" y="477964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1" name="Text 18"/>
          <p:cNvSpPr/>
          <p:nvPr/>
        </p:nvSpPr>
        <p:spPr>
          <a:xfrm>
            <a:off x="8507730" y="469392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Volatility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07730" y="492252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extreme fluctuations indicate predictable business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088630" y="52273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176736" y="531304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5" name="Text 22"/>
          <p:cNvSpPr/>
          <p:nvPr/>
        </p:nvSpPr>
        <p:spPr>
          <a:xfrm>
            <a:off x="8507730" y="522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Model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07730" y="545592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Healthy cumulative trajectory supports scaling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423150"/>
            <a:ext cx="352625" cy="35262"/>
          </a:xfrm>
          <a:custGeom>
            <a:avLst/>
            <a:gdLst/>
            <a:ahLst/>
            <a:cxnLst/>
            <a:rect l="l" t="t" r="r" b="b"/>
            <a:pathLst>
              <a:path w="352625" h="35262">
                <a:moveTo>
                  <a:pt x="0" y="0"/>
                </a:moveTo>
                <a:lnTo>
                  <a:pt x="352625" y="0"/>
                </a:lnTo>
                <a:lnTo>
                  <a:pt x="352625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11037" y="352625"/>
            <a:ext cx="1481024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spc="97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625" y="634725"/>
            <a:ext cx="11698325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Product Portfolio &amp; Pricing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256" y="1269449"/>
            <a:ext cx="5624364" cy="2380217"/>
          </a:xfrm>
          <a:custGeom>
            <a:avLst/>
            <a:gdLst/>
            <a:ahLst/>
            <a:cxnLst/>
            <a:rect l="l" t="t" r="r" b="b"/>
            <a:pathLst>
              <a:path w="5624364" h="2380217">
                <a:moveTo>
                  <a:pt x="35262" y="0"/>
                </a:moveTo>
                <a:lnTo>
                  <a:pt x="5553839" y="0"/>
                </a:lnTo>
                <a:cubicBezTo>
                  <a:pt x="5592789" y="0"/>
                  <a:pt x="5624364" y="31575"/>
                  <a:pt x="5624364" y="70526"/>
                </a:cubicBezTo>
                <a:lnTo>
                  <a:pt x="5624364" y="2309691"/>
                </a:lnTo>
                <a:cubicBezTo>
                  <a:pt x="5624364" y="2348641"/>
                  <a:pt x="5592789" y="2380217"/>
                  <a:pt x="5553839" y="2380217"/>
                </a:cubicBezTo>
                <a:lnTo>
                  <a:pt x="35262" y="2380217"/>
                </a:lnTo>
                <a:cubicBezTo>
                  <a:pt x="15788" y="2380217"/>
                  <a:pt x="0" y="2364429"/>
                  <a:pt x="0" y="234495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0256" y="1269449"/>
            <a:ext cx="35262" cy="2380217"/>
          </a:xfrm>
          <a:custGeom>
            <a:avLst/>
            <a:gdLst/>
            <a:ahLst/>
            <a:cxnLst/>
            <a:rect l="l" t="t" r="r" b="b"/>
            <a:pathLst>
              <a:path w="35262" h="2380217">
                <a:moveTo>
                  <a:pt x="35262" y="0"/>
                </a:moveTo>
                <a:lnTo>
                  <a:pt x="35262" y="0"/>
                </a:lnTo>
                <a:lnTo>
                  <a:pt x="35262" y="2380217"/>
                </a:lnTo>
                <a:lnTo>
                  <a:pt x="35262" y="2380217"/>
                </a:lnTo>
                <a:cubicBezTo>
                  <a:pt x="15788" y="2380217"/>
                  <a:pt x="0" y="2364429"/>
                  <a:pt x="0" y="234495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" name="Shape 5"/>
          <p:cNvSpPr/>
          <p:nvPr/>
        </p:nvSpPr>
        <p:spPr>
          <a:xfrm>
            <a:off x="599462" y="1481024"/>
            <a:ext cx="564200" cy="564200"/>
          </a:xfrm>
          <a:custGeom>
            <a:avLst/>
            <a:gdLst/>
            <a:ahLst/>
            <a:cxnLst/>
            <a:rect l="l" t="t" r="r" b="b"/>
            <a:pathLst>
              <a:path w="564200" h="564200">
                <a:moveTo>
                  <a:pt x="282100" y="0"/>
                </a:moveTo>
                <a:lnTo>
                  <a:pt x="282100" y="0"/>
                </a:lnTo>
                <a:cubicBezTo>
                  <a:pt x="437795" y="0"/>
                  <a:pt x="564200" y="126405"/>
                  <a:pt x="564200" y="282100"/>
                </a:cubicBezTo>
                <a:lnTo>
                  <a:pt x="564200" y="282100"/>
                </a:lnTo>
                <a:cubicBezTo>
                  <a:pt x="564200" y="437795"/>
                  <a:pt x="437795" y="564200"/>
                  <a:pt x="282100" y="564200"/>
                </a:cubicBezTo>
                <a:lnTo>
                  <a:pt x="282100" y="564200"/>
                </a:lnTo>
                <a:cubicBezTo>
                  <a:pt x="126405" y="564200"/>
                  <a:pt x="0" y="437795"/>
                  <a:pt x="0" y="282100"/>
                </a:cubicBezTo>
                <a:lnTo>
                  <a:pt x="0" y="282100"/>
                </a:lnTo>
                <a:cubicBezTo>
                  <a:pt x="0" y="126405"/>
                  <a:pt x="126405" y="0"/>
                  <a:pt x="2821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5002" y="1630889"/>
            <a:ext cx="297527" cy="264469"/>
          </a:xfrm>
          <a:custGeom>
            <a:avLst/>
            <a:gdLst/>
            <a:ahLst/>
            <a:cxnLst/>
            <a:rect l="l" t="t" r="r" b="b"/>
            <a:pathLst>
              <a:path w="297527" h="264469">
                <a:moveTo>
                  <a:pt x="161677" y="45042"/>
                </a:moveTo>
                <a:cubicBezTo>
                  <a:pt x="166429" y="41272"/>
                  <a:pt x="169425" y="35435"/>
                  <a:pt x="169425" y="28926"/>
                </a:cubicBezTo>
                <a:cubicBezTo>
                  <a:pt x="169425" y="17511"/>
                  <a:pt x="160179" y="8265"/>
                  <a:pt x="148764" y="8265"/>
                </a:cubicBezTo>
                <a:cubicBezTo>
                  <a:pt x="137348" y="8265"/>
                  <a:pt x="128102" y="17511"/>
                  <a:pt x="128102" y="28926"/>
                </a:cubicBezTo>
                <a:cubicBezTo>
                  <a:pt x="128102" y="35435"/>
                  <a:pt x="131150" y="41272"/>
                  <a:pt x="135850" y="45042"/>
                </a:cubicBezTo>
                <a:lnTo>
                  <a:pt x="100519" y="100622"/>
                </a:lnTo>
                <a:cubicBezTo>
                  <a:pt x="95353" y="108732"/>
                  <a:pt x="84351" y="110746"/>
                  <a:pt x="76655" y="104961"/>
                </a:cubicBezTo>
                <a:lnTo>
                  <a:pt x="45920" y="81975"/>
                </a:lnTo>
                <a:cubicBezTo>
                  <a:pt x="48245" y="78669"/>
                  <a:pt x="49588" y="74588"/>
                  <a:pt x="49588" y="70249"/>
                </a:cubicBezTo>
                <a:cubicBezTo>
                  <a:pt x="49588" y="58834"/>
                  <a:pt x="40342" y="49588"/>
                  <a:pt x="28926" y="49588"/>
                </a:cubicBezTo>
                <a:cubicBezTo>
                  <a:pt x="17511" y="49588"/>
                  <a:pt x="8265" y="58834"/>
                  <a:pt x="8265" y="70249"/>
                </a:cubicBezTo>
                <a:cubicBezTo>
                  <a:pt x="8265" y="81510"/>
                  <a:pt x="17304" y="90704"/>
                  <a:pt x="28513" y="90911"/>
                </a:cubicBezTo>
                <a:lnTo>
                  <a:pt x="45352" y="203259"/>
                </a:lnTo>
                <a:cubicBezTo>
                  <a:pt x="47780" y="219426"/>
                  <a:pt x="61675" y="231410"/>
                  <a:pt x="78049" y="231410"/>
                </a:cubicBezTo>
                <a:lnTo>
                  <a:pt x="219478" y="231410"/>
                </a:lnTo>
                <a:cubicBezTo>
                  <a:pt x="235852" y="231410"/>
                  <a:pt x="249747" y="219426"/>
                  <a:pt x="252175" y="203259"/>
                </a:cubicBezTo>
                <a:lnTo>
                  <a:pt x="269014" y="90911"/>
                </a:lnTo>
                <a:cubicBezTo>
                  <a:pt x="280223" y="90704"/>
                  <a:pt x="289262" y="81510"/>
                  <a:pt x="289262" y="70249"/>
                </a:cubicBezTo>
                <a:cubicBezTo>
                  <a:pt x="289262" y="58834"/>
                  <a:pt x="280016" y="49588"/>
                  <a:pt x="268601" y="49588"/>
                </a:cubicBezTo>
                <a:cubicBezTo>
                  <a:pt x="257185" y="49588"/>
                  <a:pt x="247939" y="58834"/>
                  <a:pt x="247939" y="70249"/>
                </a:cubicBezTo>
                <a:cubicBezTo>
                  <a:pt x="247939" y="74588"/>
                  <a:pt x="249282" y="78669"/>
                  <a:pt x="251607" y="81975"/>
                </a:cubicBezTo>
                <a:lnTo>
                  <a:pt x="220924" y="105013"/>
                </a:lnTo>
                <a:cubicBezTo>
                  <a:pt x="213228" y="110798"/>
                  <a:pt x="202225" y="108783"/>
                  <a:pt x="197060" y="100674"/>
                </a:cubicBezTo>
                <a:lnTo>
                  <a:pt x="161677" y="45042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9" name="Text 7"/>
          <p:cNvSpPr/>
          <p:nvPr/>
        </p:nvSpPr>
        <p:spPr>
          <a:xfrm>
            <a:off x="1304711" y="1481024"/>
            <a:ext cx="1789570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Priced Pizza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4711" y="1727861"/>
            <a:ext cx="1851280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82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Greek Pizza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9462" y="2186273"/>
            <a:ext cx="1339974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$35.95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32547" y="2327323"/>
            <a:ext cx="53775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unit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9462" y="2750473"/>
            <a:ext cx="5254108" cy="68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pizzas contribute significantly to revenue per order, even if volumes are lower. This indicates strong pricing power and customer willingness to pay for quality.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151" y="3829505"/>
            <a:ext cx="5631417" cy="3224753"/>
          </a:xfrm>
          <a:custGeom>
            <a:avLst/>
            <a:gdLst/>
            <a:ahLst/>
            <a:cxnLst/>
            <a:rect l="l" t="t" r="r" b="b"/>
            <a:pathLst>
              <a:path w="5631417" h="3224753">
                <a:moveTo>
                  <a:pt x="70525" y="0"/>
                </a:moveTo>
                <a:lnTo>
                  <a:pt x="5560892" y="0"/>
                </a:lnTo>
                <a:cubicBezTo>
                  <a:pt x="5599842" y="0"/>
                  <a:pt x="5631417" y="31575"/>
                  <a:pt x="5631417" y="70525"/>
                </a:cubicBezTo>
                <a:lnTo>
                  <a:pt x="5631417" y="3154228"/>
                </a:lnTo>
                <a:cubicBezTo>
                  <a:pt x="5631417" y="3193178"/>
                  <a:pt x="5599842" y="3224753"/>
                  <a:pt x="5560892" y="3224753"/>
                </a:cubicBezTo>
                <a:lnTo>
                  <a:pt x="70525" y="3224753"/>
                </a:lnTo>
                <a:cubicBezTo>
                  <a:pt x="31575" y="3224753"/>
                  <a:pt x="0" y="3193178"/>
                  <a:pt x="0" y="3154228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252" y="4044608"/>
            <a:ext cx="528937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Category-Wise Pizza Variety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252" y="4432495"/>
            <a:ext cx="5271740" cy="687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category (Classic, Veggie, Chicken, Supreme) has a well-distributed number of pizza types, indicating a balanced menu strategy catering to diverse customer preferences.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252" y="5261164"/>
            <a:ext cx="2547714" cy="634725"/>
          </a:xfrm>
          <a:custGeom>
            <a:avLst/>
            <a:gdLst/>
            <a:ahLst/>
            <a:cxnLst/>
            <a:rect l="l" t="t" r="r" b="b"/>
            <a:pathLst>
              <a:path w="2547714" h="634725">
                <a:moveTo>
                  <a:pt x="70524" y="0"/>
                </a:moveTo>
                <a:lnTo>
                  <a:pt x="2477189" y="0"/>
                </a:lnTo>
                <a:cubicBezTo>
                  <a:pt x="2516139" y="0"/>
                  <a:pt x="2547714" y="31575"/>
                  <a:pt x="2547714" y="70524"/>
                </a:cubicBezTo>
                <a:lnTo>
                  <a:pt x="2547714" y="564200"/>
                </a:lnTo>
                <a:cubicBezTo>
                  <a:pt x="2547714" y="603150"/>
                  <a:pt x="2516139" y="634725"/>
                  <a:pt x="2477189" y="634725"/>
                </a:cubicBezTo>
                <a:lnTo>
                  <a:pt x="70524" y="634725"/>
                </a:lnTo>
                <a:cubicBezTo>
                  <a:pt x="31575" y="634725"/>
                  <a:pt x="0" y="603150"/>
                  <a:pt x="0" y="564200"/>
                </a:cubicBezTo>
                <a:lnTo>
                  <a:pt x="0" y="70524"/>
                </a:lnTo>
                <a:cubicBezTo>
                  <a:pt x="0" y="31601"/>
                  <a:pt x="31601" y="0"/>
                  <a:pt x="7052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7369" y="5366951"/>
            <a:ext cx="241547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9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185" y="5613788"/>
            <a:ext cx="239784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favorites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24533" y="5261164"/>
            <a:ext cx="2547714" cy="634725"/>
          </a:xfrm>
          <a:custGeom>
            <a:avLst/>
            <a:gdLst/>
            <a:ahLst/>
            <a:cxnLst/>
            <a:rect l="l" t="t" r="r" b="b"/>
            <a:pathLst>
              <a:path w="2547714" h="634725">
                <a:moveTo>
                  <a:pt x="70524" y="0"/>
                </a:moveTo>
                <a:lnTo>
                  <a:pt x="2477189" y="0"/>
                </a:lnTo>
                <a:cubicBezTo>
                  <a:pt x="2516139" y="0"/>
                  <a:pt x="2547714" y="31575"/>
                  <a:pt x="2547714" y="70524"/>
                </a:cubicBezTo>
                <a:lnTo>
                  <a:pt x="2547714" y="564200"/>
                </a:lnTo>
                <a:cubicBezTo>
                  <a:pt x="2547714" y="603150"/>
                  <a:pt x="2516139" y="634725"/>
                  <a:pt x="2477189" y="634725"/>
                </a:cubicBezTo>
                <a:lnTo>
                  <a:pt x="70524" y="634725"/>
                </a:lnTo>
                <a:cubicBezTo>
                  <a:pt x="31575" y="634725"/>
                  <a:pt x="0" y="603150"/>
                  <a:pt x="0" y="564200"/>
                </a:cubicBezTo>
                <a:lnTo>
                  <a:pt x="0" y="70524"/>
                </a:lnTo>
                <a:cubicBezTo>
                  <a:pt x="0" y="31601"/>
                  <a:pt x="31601" y="0"/>
                  <a:pt x="7052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90650" y="5366951"/>
            <a:ext cx="241547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9" b="1" dirty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Supreme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9465" y="5613788"/>
            <a:ext cx="239784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Loaded toppings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252" y="6001675"/>
            <a:ext cx="2547714" cy="634725"/>
          </a:xfrm>
          <a:custGeom>
            <a:avLst/>
            <a:gdLst/>
            <a:ahLst/>
            <a:cxnLst/>
            <a:rect l="l" t="t" r="r" b="b"/>
            <a:pathLst>
              <a:path w="2547714" h="634725">
                <a:moveTo>
                  <a:pt x="70524" y="0"/>
                </a:moveTo>
                <a:lnTo>
                  <a:pt x="2477189" y="0"/>
                </a:lnTo>
                <a:cubicBezTo>
                  <a:pt x="2516139" y="0"/>
                  <a:pt x="2547714" y="31575"/>
                  <a:pt x="2547714" y="70524"/>
                </a:cubicBezTo>
                <a:lnTo>
                  <a:pt x="2547714" y="564200"/>
                </a:lnTo>
                <a:cubicBezTo>
                  <a:pt x="2547714" y="603150"/>
                  <a:pt x="2516139" y="634725"/>
                  <a:pt x="2477189" y="634725"/>
                </a:cubicBezTo>
                <a:lnTo>
                  <a:pt x="70524" y="634725"/>
                </a:lnTo>
                <a:cubicBezTo>
                  <a:pt x="31575" y="634725"/>
                  <a:pt x="0" y="603150"/>
                  <a:pt x="0" y="564200"/>
                </a:cubicBezTo>
                <a:lnTo>
                  <a:pt x="0" y="70524"/>
                </a:lnTo>
                <a:cubicBezTo>
                  <a:pt x="0" y="31601"/>
                  <a:pt x="31601" y="0"/>
                  <a:pt x="7052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7369" y="6107463"/>
            <a:ext cx="241547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9" b="1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Veggie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6185" y="6354300"/>
            <a:ext cx="239784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Plant-based options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24533" y="6001675"/>
            <a:ext cx="2547714" cy="634725"/>
          </a:xfrm>
          <a:custGeom>
            <a:avLst/>
            <a:gdLst/>
            <a:ahLst/>
            <a:cxnLst/>
            <a:rect l="l" t="t" r="r" b="b"/>
            <a:pathLst>
              <a:path w="2547714" h="634725">
                <a:moveTo>
                  <a:pt x="70524" y="0"/>
                </a:moveTo>
                <a:lnTo>
                  <a:pt x="2477189" y="0"/>
                </a:lnTo>
                <a:cubicBezTo>
                  <a:pt x="2516139" y="0"/>
                  <a:pt x="2547714" y="31575"/>
                  <a:pt x="2547714" y="70524"/>
                </a:cubicBezTo>
                <a:lnTo>
                  <a:pt x="2547714" y="564200"/>
                </a:lnTo>
                <a:cubicBezTo>
                  <a:pt x="2547714" y="603150"/>
                  <a:pt x="2516139" y="634725"/>
                  <a:pt x="2477189" y="634725"/>
                </a:cubicBezTo>
                <a:lnTo>
                  <a:pt x="70524" y="634725"/>
                </a:lnTo>
                <a:cubicBezTo>
                  <a:pt x="31575" y="634725"/>
                  <a:pt x="0" y="603150"/>
                  <a:pt x="0" y="564200"/>
                </a:cubicBezTo>
                <a:lnTo>
                  <a:pt x="0" y="70524"/>
                </a:lnTo>
                <a:cubicBezTo>
                  <a:pt x="0" y="31601"/>
                  <a:pt x="31601" y="0"/>
                  <a:pt x="7052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90650" y="6107463"/>
            <a:ext cx="241547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9" b="1" dirty="0">
                <a:solidFill>
                  <a:srgbClr val="E8A9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Chicken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9465" y="6354300"/>
            <a:ext cx="239784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protein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2228" y="1269449"/>
            <a:ext cx="5641996" cy="4610568"/>
          </a:xfrm>
          <a:custGeom>
            <a:avLst/>
            <a:gdLst/>
            <a:ahLst/>
            <a:cxnLst/>
            <a:rect l="l" t="t" r="r" b="b"/>
            <a:pathLst>
              <a:path w="5641996" h="4610568">
                <a:moveTo>
                  <a:pt x="70542" y="0"/>
                </a:moveTo>
                <a:lnTo>
                  <a:pt x="5571454" y="0"/>
                </a:lnTo>
                <a:cubicBezTo>
                  <a:pt x="5610413" y="0"/>
                  <a:pt x="5641996" y="31583"/>
                  <a:pt x="5641996" y="70542"/>
                </a:cubicBezTo>
                <a:lnTo>
                  <a:pt x="5641996" y="4540027"/>
                </a:lnTo>
                <a:cubicBezTo>
                  <a:pt x="5641996" y="4578986"/>
                  <a:pt x="5610413" y="4610568"/>
                  <a:pt x="5571454" y="4610568"/>
                </a:cubicBezTo>
                <a:lnTo>
                  <a:pt x="70542" y="4610568"/>
                </a:lnTo>
                <a:cubicBezTo>
                  <a:pt x="31583" y="4610568"/>
                  <a:pt x="0" y="4578986"/>
                  <a:pt x="0" y="4540027"/>
                </a:cubicBezTo>
                <a:lnTo>
                  <a:pt x="0" y="70542"/>
                </a:lnTo>
                <a:cubicBezTo>
                  <a:pt x="0" y="31609"/>
                  <a:pt x="31609" y="0"/>
                  <a:pt x="70542" y="0"/>
                </a:cubicBezTo>
                <a:close/>
              </a:path>
            </a:pathLst>
          </a:custGeom>
          <a:solidFill>
            <a:srgbClr val="2D3136">
              <a:alpha val="3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378540" y="1445761"/>
            <a:ext cx="5377527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Distribution Analysis</a:t>
            </a:r>
            <a:endParaRPr lang="en-US" sz="1600" dirty="0"/>
          </a:p>
        </p:txBody>
      </p:sp>
      <p:pic>
        <p:nvPicPr>
          <p:cNvPr id="31" name="Image 0" descr="https://kimi-img.moonshot.cn/pub/slides/26-02-01-23:08:32-d5vmos4coua22kl24pt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78540" y="1833649"/>
            <a:ext cx="4830959" cy="2820998"/>
          </a:xfrm>
          <a:prstGeom prst="roundRect">
            <a:avLst>
              <a:gd name="adj" fmla="val 0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6205754" y="6060407"/>
            <a:ext cx="2739894" cy="994402"/>
          </a:xfrm>
          <a:custGeom>
            <a:avLst/>
            <a:gdLst/>
            <a:ahLst/>
            <a:cxnLst/>
            <a:rect l="l" t="t" r="r" b="b"/>
            <a:pathLst>
              <a:path w="2739894" h="994402">
                <a:moveTo>
                  <a:pt x="70523" y="0"/>
                </a:moveTo>
                <a:lnTo>
                  <a:pt x="2669371" y="0"/>
                </a:lnTo>
                <a:cubicBezTo>
                  <a:pt x="2708320" y="0"/>
                  <a:pt x="2739894" y="31574"/>
                  <a:pt x="2739894" y="70523"/>
                </a:cubicBezTo>
                <a:lnTo>
                  <a:pt x="2739894" y="923879"/>
                </a:lnTo>
                <a:cubicBezTo>
                  <a:pt x="2739894" y="962828"/>
                  <a:pt x="2708320" y="994402"/>
                  <a:pt x="2669371" y="994402"/>
                </a:cubicBezTo>
                <a:lnTo>
                  <a:pt x="70523" y="994402"/>
                </a:lnTo>
                <a:cubicBezTo>
                  <a:pt x="31574" y="994402"/>
                  <a:pt x="0" y="962828"/>
                  <a:pt x="0" y="923879"/>
                </a:cubicBezTo>
                <a:lnTo>
                  <a:pt x="0" y="70523"/>
                </a:lnTo>
                <a:cubicBezTo>
                  <a:pt x="0" y="31600"/>
                  <a:pt x="31600" y="0"/>
                  <a:pt x="7052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62452" y="6231433"/>
            <a:ext cx="178516" cy="158681"/>
          </a:xfrm>
          <a:custGeom>
            <a:avLst/>
            <a:gdLst/>
            <a:ahLst/>
            <a:cxnLst/>
            <a:rect l="l" t="t" r="r" b="b"/>
            <a:pathLst>
              <a:path w="178516" h="158681">
                <a:moveTo>
                  <a:pt x="124342" y="12118"/>
                </a:moveTo>
                <a:lnTo>
                  <a:pt x="170272" y="58700"/>
                </a:lnTo>
                <a:cubicBezTo>
                  <a:pt x="178857" y="67408"/>
                  <a:pt x="178857" y="81355"/>
                  <a:pt x="170272" y="90064"/>
                </a:cubicBezTo>
                <a:lnTo>
                  <a:pt x="121800" y="139125"/>
                </a:lnTo>
                <a:cubicBezTo>
                  <a:pt x="118918" y="142038"/>
                  <a:pt x="114207" y="142069"/>
                  <a:pt x="111294" y="139187"/>
                </a:cubicBezTo>
                <a:cubicBezTo>
                  <a:pt x="108380" y="136305"/>
                  <a:pt x="108349" y="131594"/>
                  <a:pt x="111232" y="128680"/>
                </a:cubicBezTo>
                <a:lnTo>
                  <a:pt x="159704" y="79589"/>
                </a:lnTo>
                <a:cubicBezTo>
                  <a:pt x="162555" y="76706"/>
                  <a:pt x="162555" y="72026"/>
                  <a:pt x="159704" y="69144"/>
                </a:cubicBezTo>
                <a:lnTo>
                  <a:pt x="113742" y="22593"/>
                </a:lnTo>
                <a:cubicBezTo>
                  <a:pt x="110860" y="19680"/>
                  <a:pt x="110891" y="14969"/>
                  <a:pt x="113804" y="12087"/>
                </a:cubicBezTo>
                <a:cubicBezTo>
                  <a:pt x="116717" y="9205"/>
                  <a:pt x="121428" y="9236"/>
                  <a:pt x="124311" y="12149"/>
                </a:cubicBezTo>
                <a:close/>
                <a:moveTo>
                  <a:pt x="9949" y="71128"/>
                </a:moveTo>
                <a:lnTo>
                  <a:pt x="9949" y="29753"/>
                </a:lnTo>
                <a:cubicBezTo>
                  <a:pt x="9949" y="18812"/>
                  <a:pt x="18843" y="9918"/>
                  <a:pt x="29784" y="9918"/>
                </a:cubicBezTo>
                <a:lnTo>
                  <a:pt x="71159" y="9918"/>
                </a:lnTo>
                <a:cubicBezTo>
                  <a:pt x="76427" y="9918"/>
                  <a:pt x="81479" y="11994"/>
                  <a:pt x="85198" y="15713"/>
                </a:cubicBezTo>
                <a:lnTo>
                  <a:pt x="129827" y="60342"/>
                </a:lnTo>
                <a:cubicBezTo>
                  <a:pt x="137575" y="68090"/>
                  <a:pt x="137575" y="80642"/>
                  <a:pt x="129827" y="88390"/>
                </a:cubicBezTo>
                <a:lnTo>
                  <a:pt x="88452" y="129765"/>
                </a:lnTo>
                <a:cubicBezTo>
                  <a:pt x="80704" y="137513"/>
                  <a:pt x="68152" y="137513"/>
                  <a:pt x="60404" y="129765"/>
                </a:cubicBezTo>
                <a:lnTo>
                  <a:pt x="15775" y="85136"/>
                </a:lnTo>
                <a:cubicBezTo>
                  <a:pt x="12056" y="81417"/>
                  <a:pt x="9980" y="76365"/>
                  <a:pt x="9980" y="71097"/>
                </a:cubicBezTo>
                <a:close/>
                <a:moveTo>
                  <a:pt x="54578" y="44629"/>
                </a:moveTo>
                <a:cubicBezTo>
                  <a:pt x="54578" y="39155"/>
                  <a:pt x="50134" y="34711"/>
                  <a:pt x="44660" y="34711"/>
                </a:cubicBezTo>
                <a:cubicBezTo>
                  <a:pt x="39186" y="34711"/>
                  <a:pt x="34742" y="39155"/>
                  <a:pt x="34742" y="44629"/>
                </a:cubicBezTo>
                <a:cubicBezTo>
                  <a:pt x="34742" y="50103"/>
                  <a:pt x="39186" y="54547"/>
                  <a:pt x="44660" y="54547"/>
                </a:cubicBezTo>
                <a:cubicBezTo>
                  <a:pt x="50134" y="54547"/>
                  <a:pt x="54578" y="50103"/>
                  <a:pt x="54578" y="44629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4" name="Text 31"/>
          <p:cNvSpPr/>
          <p:nvPr/>
        </p:nvSpPr>
        <p:spPr>
          <a:xfrm>
            <a:off x="6654470" y="6204986"/>
            <a:ext cx="81103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Range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50331" y="6487085"/>
            <a:ext cx="251245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$12.95 - $35.95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50331" y="6698660"/>
            <a:ext cx="252126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 spectrum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9095294" y="6060407"/>
            <a:ext cx="2739894" cy="994402"/>
          </a:xfrm>
          <a:custGeom>
            <a:avLst/>
            <a:gdLst/>
            <a:ahLst/>
            <a:cxnLst/>
            <a:rect l="l" t="t" r="r" b="b"/>
            <a:pathLst>
              <a:path w="2739894" h="994402">
                <a:moveTo>
                  <a:pt x="70523" y="0"/>
                </a:moveTo>
                <a:lnTo>
                  <a:pt x="2669371" y="0"/>
                </a:lnTo>
                <a:cubicBezTo>
                  <a:pt x="2708320" y="0"/>
                  <a:pt x="2739894" y="31574"/>
                  <a:pt x="2739894" y="70523"/>
                </a:cubicBezTo>
                <a:lnTo>
                  <a:pt x="2739894" y="923879"/>
                </a:lnTo>
                <a:cubicBezTo>
                  <a:pt x="2739894" y="962828"/>
                  <a:pt x="2708320" y="994402"/>
                  <a:pt x="2669371" y="994402"/>
                </a:cubicBezTo>
                <a:lnTo>
                  <a:pt x="70523" y="994402"/>
                </a:lnTo>
                <a:cubicBezTo>
                  <a:pt x="31574" y="994402"/>
                  <a:pt x="0" y="962828"/>
                  <a:pt x="0" y="923879"/>
                </a:cubicBezTo>
                <a:lnTo>
                  <a:pt x="0" y="70523"/>
                </a:lnTo>
                <a:cubicBezTo>
                  <a:pt x="0" y="31600"/>
                  <a:pt x="31600" y="0"/>
                  <a:pt x="7052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42074" y="6231433"/>
            <a:ext cx="198351" cy="158681"/>
          </a:xfrm>
          <a:custGeom>
            <a:avLst/>
            <a:gdLst/>
            <a:ahLst/>
            <a:cxnLst/>
            <a:rect l="l" t="t" r="r" b="b"/>
            <a:pathLst>
              <a:path w="198351" h="158681">
                <a:moveTo>
                  <a:pt x="119011" y="9918"/>
                </a:moveTo>
                <a:lnTo>
                  <a:pt x="158681" y="9918"/>
                </a:lnTo>
                <a:cubicBezTo>
                  <a:pt x="164167" y="9918"/>
                  <a:pt x="168599" y="14349"/>
                  <a:pt x="168599" y="19835"/>
                </a:cubicBezTo>
                <a:cubicBezTo>
                  <a:pt x="168599" y="25321"/>
                  <a:pt x="164167" y="29753"/>
                  <a:pt x="158681" y="29753"/>
                </a:cubicBezTo>
                <a:lnTo>
                  <a:pt x="123474" y="29753"/>
                </a:lnTo>
                <a:cubicBezTo>
                  <a:pt x="121862" y="37749"/>
                  <a:pt x="116376" y="44350"/>
                  <a:pt x="109093" y="47511"/>
                </a:cubicBezTo>
                <a:lnTo>
                  <a:pt x="109093" y="138846"/>
                </a:lnTo>
                <a:lnTo>
                  <a:pt x="158681" y="138846"/>
                </a:lnTo>
                <a:cubicBezTo>
                  <a:pt x="164167" y="138846"/>
                  <a:pt x="168599" y="143278"/>
                  <a:pt x="168599" y="148764"/>
                </a:cubicBezTo>
                <a:cubicBezTo>
                  <a:pt x="168599" y="154249"/>
                  <a:pt x="164167" y="158681"/>
                  <a:pt x="158681" y="158681"/>
                </a:cubicBezTo>
                <a:lnTo>
                  <a:pt x="39670" y="158681"/>
                </a:lnTo>
                <a:cubicBezTo>
                  <a:pt x="34185" y="158681"/>
                  <a:pt x="29753" y="154249"/>
                  <a:pt x="29753" y="148764"/>
                </a:cubicBezTo>
                <a:cubicBezTo>
                  <a:pt x="29753" y="143278"/>
                  <a:pt x="34185" y="138846"/>
                  <a:pt x="39670" y="138846"/>
                </a:cubicBezTo>
                <a:lnTo>
                  <a:pt x="89258" y="138846"/>
                </a:lnTo>
                <a:lnTo>
                  <a:pt x="89258" y="47511"/>
                </a:lnTo>
                <a:cubicBezTo>
                  <a:pt x="81975" y="44319"/>
                  <a:pt x="76489" y="37718"/>
                  <a:pt x="74878" y="29753"/>
                </a:cubicBezTo>
                <a:lnTo>
                  <a:pt x="39670" y="29753"/>
                </a:lnTo>
                <a:cubicBezTo>
                  <a:pt x="34185" y="29753"/>
                  <a:pt x="29753" y="25321"/>
                  <a:pt x="29753" y="19835"/>
                </a:cubicBezTo>
                <a:cubicBezTo>
                  <a:pt x="29753" y="14349"/>
                  <a:pt x="34185" y="9918"/>
                  <a:pt x="39670" y="9918"/>
                </a:cubicBezTo>
                <a:lnTo>
                  <a:pt x="79341" y="9918"/>
                </a:lnTo>
                <a:cubicBezTo>
                  <a:pt x="83865" y="3905"/>
                  <a:pt x="91056" y="0"/>
                  <a:pt x="99176" y="0"/>
                </a:cubicBezTo>
                <a:cubicBezTo>
                  <a:pt x="107296" y="0"/>
                  <a:pt x="114486" y="3905"/>
                  <a:pt x="119011" y="9918"/>
                </a:cubicBezTo>
                <a:close/>
                <a:moveTo>
                  <a:pt x="136243" y="99176"/>
                </a:moveTo>
                <a:lnTo>
                  <a:pt x="181120" y="99176"/>
                </a:lnTo>
                <a:lnTo>
                  <a:pt x="158681" y="60683"/>
                </a:lnTo>
                <a:lnTo>
                  <a:pt x="136243" y="99176"/>
                </a:lnTo>
                <a:close/>
                <a:moveTo>
                  <a:pt x="158681" y="128928"/>
                </a:moveTo>
                <a:cubicBezTo>
                  <a:pt x="139187" y="128928"/>
                  <a:pt x="122978" y="118391"/>
                  <a:pt x="119631" y="104475"/>
                </a:cubicBezTo>
                <a:cubicBezTo>
                  <a:pt x="118825" y="101066"/>
                  <a:pt x="119941" y="97564"/>
                  <a:pt x="121707" y="94527"/>
                </a:cubicBezTo>
                <a:lnTo>
                  <a:pt x="151212" y="43947"/>
                </a:lnTo>
                <a:cubicBezTo>
                  <a:pt x="152762" y="41282"/>
                  <a:pt x="155613" y="39670"/>
                  <a:pt x="158681" y="39670"/>
                </a:cubicBezTo>
                <a:cubicBezTo>
                  <a:pt x="161749" y="39670"/>
                  <a:pt x="164601" y="41313"/>
                  <a:pt x="166150" y="43947"/>
                </a:cubicBezTo>
                <a:lnTo>
                  <a:pt x="195655" y="94527"/>
                </a:lnTo>
                <a:cubicBezTo>
                  <a:pt x="197422" y="97564"/>
                  <a:pt x="198537" y="101066"/>
                  <a:pt x="197732" y="104475"/>
                </a:cubicBezTo>
                <a:cubicBezTo>
                  <a:pt x="194384" y="118360"/>
                  <a:pt x="178175" y="128928"/>
                  <a:pt x="158681" y="128928"/>
                </a:cubicBezTo>
                <a:close/>
                <a:moveTo>
                  <a:pt x="39298" y="60683"/>
                </a:moveTo>
                <a:lnTo>
                  <a:pt x="16860" y="99176"/>
                </a:lnTo>
                <a:lnTo>
                  <a:pt x="61768" y="99176"/>
                </a:lnTo>
                <a:lnTo>
                  <a:pt x="39298" y="60683"/>
                </a:lnTo>
                <a:close/>
                <a:moveTo>
                  <a:pt x="279" y="104475"/>
                </a:moveTo>
                <a:cubicBezTo>
                  <a:pt x="-527" y="101066"/>
                  <a:pt x="589" y="97564"/>
                  <a:pt x="2355" y="94527"/>
                </a:cubicBezTo>
                <a:lnTo>
                  <a:pt x="31860" y="43947"/>
                </a:lnTo>
                <a:cubicBezTo>
                  <a:pt x="33410" y="41282"/>
                  <a:pt x="36261" y="39670"/>
                  <a:pt x="39329" y="39670"/>
                </a:cubicBezTo>
                <a:cubicBezTo>
                  <a:pt x="42398" y="39670"/>
                  <a:pt x="45249" y="41313"/>
                  <a:pt x="46799" y="43947"/>
                </a:cubicBezTo>
                <a:lnTo>
                  <a:pt x="76303" y="94527"/>
                </a:lnTo>
                <a:cubicBezTo>
                  <a:pt x="78070" y="97564"/>
                  <a:pt x="79186" y="101066"/>
                  <a:pt x="78380" y="104475"/>
                </a:cubicBezTo>
                <a:cubicBezTo>
                  <a:pt x="75033" y="118360"/>
                  <a:pt x="58824" y="128928"/>
                  <a:pt x="39329" y="128928"/>
                </a:cubicBezTo>
                <a:cubicBezTo>
                  <a:pt x="19835" y="128928"/>
                  <a:pt x="3626" y="118391"/>
                  <a:pt x="279" y="104475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9" name="Text 36"/>
          <p:cNvSpPr/>
          <p:nvPr/>
        </p:nvSpPr>
        <p:spPr>
          <a:xfrm>
            <a:off x="9544009" y="6204986"/>
            <a:ext cx="696434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Avg. Price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239870" y="6487085"/>
            <a:ext cx="251245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all pizzas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239870" y="6698660"/>
            <a:ext cx="252126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$18.20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Demand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Top-Selling Pizzas by Quantity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6724650" cy="5105400"/>
          </a:xfrm>
          <a:custGeom>
            <a:avLst/>
            <a:gdLst/>
            <a:ahLst/>
            <a:cxnLst/>
            <a:rect l="l" t="t" r="r" b="b"/>
            <a:pathLst>
              <a:path w="6724650" h="5105400">
                <a:moveTo>
                  <a:pt x="76224" y="0"/>
                </a:moveTo>
                <a:lnTo>
                  <a:pt x="6648426" y="0"/>
                </a:lnTo>
                <a:cubicBezTo>
                  <a:pt x="6690524" y="0"/>
                  <a:pt x="6724650" y="34126"/>
                  <a:pt x="6724650" y="76224"/>
                </a:cubicBezTo>
                <a:lnTo>
                  <a:pt x="6724650" y="5029176"/>
                </a:lnTo>
                <a:cubicBezTo>
                  <a:pt x="6724650" y="5071274"/>
                  <a:pt x="6690524" y="5105400"/>
                  <a:pt x="6648426" y="5105400"/>
                </a:cubicBezTo>
                <a:lnTo>
                  <a:pt x="76224" y="5105400"/>
                </a:lnTo>
                <a:cubicBezTo>
                  <a:pt x="34126" y="5105400"/>
                  <a:pt x="0" y="5071274"/>
                  <a:pt x="0" y="5029176"/>
                </a:cubicBezTo>
                <a:lnTo>
                  <a:pt x="0" y="76224"/>
                </a:lnTo>
                <a:cubicBezTo>
                  <a:pt x="0" y="34155"/>
                  <a:pt x="34155" y="0"/>
                  <a:pt x="76224" y="0"/>
                </a:cubicBezTo>
                <a:close/>
              </a:path>
            </a:pathLst>
          </a:custGeom>
          <a:solidFill>
            <a:srgbClr val="2D3136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62100"/>
            <a:ext cx="643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Most Ordered Pizza Types</a:t>
            </a:r>
            <a:endParaRPr lang="en-US" sz="1600" dirty="0"/>
          </a:p>
        </p:txBody>
      </p:sp>
      <p:pic>
        <p:nvPicPr>
          <p:cNvPr id="7" name="Image 0" descr="https://kimi-img.moonshot.cn/pub/slides/26-02-01-23:08:32-d5vmos33jihftp322dl0.pn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571500" y="1981200"/>
            <a:ext cx="6343650" cy="40005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53300" y="1371600"/>
            <a:ext cx="4457700" cy="2933700"/>
          </a:xfrm>
          <a:custGeom>
            <a:avLst/>
            <a:gdLst/>
            <a:ahLst/>
            <a:cxnLst/>
            <a:rect l="l" t="t" r="r" b="b"/>
            <a:pathLst>
              <a:path w="4457700" h="2933700">
                <a:moveTo>
                  <a:pt x="38100" y="0"/>
                </a:moveTo>
                <a:lnTo>
                  <a:pt x="4381512" y="0"/>
                </a:lnTo>
                <a:cubicBezTo>
                  <a:pt x="4423589" y="0"/>
                  <a:pt x="4457700" y="34111"/>
                  <a:pt x="4457700" y="76188"/>
                </a:cubicBezTo>
                <a:lnTo>
                  <a:pt x="4457700" y="2857512"/>
                </a:lnTo>
                <a:cubicBezTo>
                  <a:pt x="4457700" y="2899589"/>
                  <a:pt x="4423589" y="2933700"/>
                  <a:pt x="4381512" y="2933700"/>
                </a:cubicBezTo>
                <a:lnTo>
                  <a:pt x="38100" y="2933700"/>
                </a:lnTo>
                <a:cubicBezTo>
                  <a:pt x="17072" y="2933700"/>
                  <a:pt x="0" y="2916628"/>
                  <a:pt x="0" y="2895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353300" y="1371600"/>
            <a:ext cx="38100" cy="2933700"/>
          </a:xfrm>
          <a:custGeom>
            <a:avLst/>
            <a:gdLst/>
            <a:ahLst/>
            <a:cxnLst/>
            <a:rect l="l" t="t" r="r" b="b"/>
            <a:pathLst>
              <a:path w="38100" h="2933700">
                <a:moveTo>
                  <a:pt x="38100" y="0"/>
                </a:moveTo>
                <a:lnTo>
                  <a:pt x="38100" y="0"/>
                </a:lnTo>
                <a:lnTo>
                  <a:pt x="38100" y="2933700"/>
                </a:lnTo>
                <a:lnTo>
                  <a:pt x="38100" y="2933700"/>
                </a:lnTo>
                <a:cubicBezTo>
                  <a:pt x="17072" y="2933700"/>
                  <a:pt x="0" y="2916628"/>
                  <a:pt x="0" y="2895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0" name="Text 7"/>
          <p:cNvSpPr/>
          <p:nvPr/>
        </p:nvSpPr>
        <p:spPr>
          <a:xfrm>
            <a:off x="7562850" y="1562100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Demand Drivers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62850" y="1981200"/>
            <a:ext cx="413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pizzas represent core demand drivers and should be prioritized in promotions and inventory planning.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62850" y="26860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3" name="Text 10"/>
          <p:cNvSpPr/>
          <p:nvPr/>
        </p:nvSpPr>
        <p:spPr>
          <a:xfrm>
            <a:off x="7694057" y="274320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81950" y="26289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 Deluxe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81950" y="28575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2,453 units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62850" y="32194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7" name="Text 14"/>
          <p:cNvSpPr/>
          <p:nvPr/>
        </p:nvSpPr>
        <p:spPr>
          <a:xfrm>
            <a:off x="7681198" y="32766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81950" y="316230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Barbecue Chicken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81950" y="339090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2,432 units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62850" y="3752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1" name="Text 18"/>
          <p:cNvSpPr/>
          <p:nvPr/>
        </p:nvSpPr>
        <p:spPr>
          <a:xfrm>
            <a:off x="7679531" y="38100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81950" y="36957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Hawaiian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81950" y="39243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2,422 units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338060" y="4461510"/>
            <a:ext cx="4465320" cy="2007870"/>
          </a:xfrm>
          <a:custGeom>
            <a:avLst/>
            <a:gdLst/>
            <a:ahLst/>
            <a:cxnLst/>
            <a:rect l="l" t="t" r="r" b="b"/>
            <a:pathLst>
              <a:path w="4465320" h="2007870">
                <a:moveTo>
                  <a:pt x="76199" y="0"/>
                </a:moveTo>
                <a:lnTo>
                  <a:pt x="4389121" y="0"/>
                </a:lnTo>
                <a:cubicBezTo>
                  <a:pt x="4431205" y="0"/>
                  <a:pt x="4465320" y="34115"/>
                  <a:pt x="4465320" y="76199"/>
                </a:cubicBezTo>
                <a:lnTo>
                  <a:pt x="4465320" y="1931671"/>
                </a:lnTo>
                <a:cubicBezTo>
                  <a:pt x="4465320" y="1973755"/>
                  <a:pt x="4431205" y="2007870"/>
                  <a:pt x="4389121" y="2007870"/>
                </a:cubicBezTo>
                <a:lnTo>
                  <a:pt x="76199" y="2007870"/>
                </a:lnTo>
                <a:cubicBezTo>
                  <a:pt x="34115" y="2007870"/>
                  <a:pt x="0" y="1973755"/>
                  <a:pt x="0" y="193167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32370" y="4655818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Implications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559754" y="50749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7" name="Text 24"/>
          <p:cNvSpPr/>
          <p:nvPr/>
        </p:nvSpPr>
        <p:spPr>
          <a:xfrm>
            <a:off x="7775257" y="5036818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 category shows strongest volume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59754" y="53797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9" name="Text 26"/>
          <p:cNvSpPr/>
          <p:nvPr/>
        </p:nvSpPr>
        <p:spPr>
          <a:xfrm>
            <a:off x="7775257" y="5341618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Chicken pizzas rank high in both volume and revenue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559754" y="56845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1" name="Text 28"/>
          <p:cNvSpPr/>
          <p:nvPr/>
        </p:nvSpPr>
        <p:spPr>
          <a:xfrm>
            <a:off x="7775257" y="5646418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5 pizzas account for ~27% of total volume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559754" y="59893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3" name="Text 30"/>
          <p:cNvSpPr/>
          <p:nvPr/>
        </p:nvSpPr>
        <p:spPr>
          <a:xfrm>
            <a:off x="7775257" y="5951218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consistent availability for demand fulfillment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Category-Wise Demand Distribution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5600700" cy="5486400"/>
          </a:xfrm>
          <a:custGeom>
            <a:avLst/>
            <a:gdLst/>
            <a:ahLst/>
            <a:cxnLst/>
            <a:rect l="l" t="t" r="r" b="b"/>
            <a:pathLst>
              <a:path w="5600700" h="54864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5410194"/>
                </a:lnTo>
                <a:cubicBezTo>
                  <a:pt x="5600700" y="5452281"/>
                  <a:pt x="5566581" y="5486400"/>
                  <a:pt x="5524494" y="5486400"/>
                </a:cubicBezTo>
                <a:lnTo>
                  <a:pt x="76206" y="5486400"/>
                </a:lnTo>
                <a:cubicBezTo>
                  <a:pt x="34119" y="5486400"/>
                  <a:pt x="0" y="5452281"/>
                  <a:pt x="0" y="54101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D3136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6210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Quantity Sold by Category</a:t>
            </a:r>
            <a:endParaRPr lang="en-US" sz="1600" dirty="0"/>
          </a:p>
        </p:txBody>
      </p:sp>
      <p:pic>
        <p:nvPicPr>
          <p:cNvPr id="7" name="Image 0" descr="https://kimi-img.moonshot.cn/pub/slides/26-02-01-23:08:33-d5vmos8lrq4uln7d527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981200"/>
            <a:ext cx="5219700" cy="3810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229350" y="1371600"/>
            <a:ext cx="2705100" cy="1828800"/>
          </a:xfrm>
          <a:custGeom>
            <a:avLst/>
            <a:gdLst/>
            <a:ahLst/>
            <a:cxnLst/>
            <a:rect l="l" t="t" r="r" b="b"/>
            <a:pathLst>
              <a:path w="2705100" h="1828800">
                <a:moveTo>
                  <a:pt x="38100" y="0"/>
                </a:moveTo>
                <a:lnTo>
                  <a:pt x="2628894" y="0"/>
                </a:lnTo>
                <a:cubicBezTo>
                  <a:pt x="2670981" y="0"/>
                  <a:pt x="2705100" y="34119"/>
                  <a:pt x="2705100" y="76206"/>
                </a:cubicBezTo>
                <a:lnTo>
                  <a:pt x="2705100" y="1752594"/>
                </a:lnTo>
                <a:cubicBezTo>
                  <a:pt x="2705100" y="1794681"/>
                  <a:pt x="2670981" y="1828800"/>
                  <a:pt x="262889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229350" y="13716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0" name="Shape 7"/>
          <p:cNvSpPr/>
          <p:nvPr/>
        </p:nvSpPr>
        <p:spPr>
          <a:xfrm>
            <a:off x="643890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543675" y="1676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2" name="Text 9"/>
          <p:cNvSpPr/>
          <p:nvPr/>
        </p:nvSpPr>
        <p:spPr>
          <a:xfrm>
            <a:off x="6934200" y="1619250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38900" y="20574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14,888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38900" y="25146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pizzas sold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38900" y="28194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33.1% of total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05900" y="1371600"/>
            <a:ext cx="2705100" cy="1828800"/>
          </a:xfrm>
          <a:custGeom>
            <a:avLst/>
            <a:gdLst/>
            <a:ahLst/>
            <a:cxnLst/>
            <a:rect l="l" t="t" r="r" b="b"/>
            <a:pathLst>
              <a:path w="2705100" h="1828800">
                <a:moveTo>
                  <a:pt x="38100" y="0"/>
                </a:moveTo>
                <a:lnTo>
                  <a:pt x="2628894" y="0"/>
                </a:lnTo>
                <a:cubicBezTo>
                  <a:pt x="2670981" y="0"/>
                  <a:pt x="2705100" y="34119"/>
                  <a:pt x="2705100" y="76206"/>
                </a:cubicBezTo>
                <a:lnTo>
                  <a:pt x="2705100" y="1752594"/>
                </a:lnTo>
                <a:cubicBezTo>
                  <a:pt x="2705100" y="1794681"/>
                  <a:pt x="2670981" y="1828800"/>
                  <a:pt x="262889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105900" y="13716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Shape 15"/>
          <p:cNvSpPr/>
          <p:nvPr/>
        </p:nvSpPr>
        <p:spPr>
          <a:xfrm>
            <a:off x="931545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429750" y="1676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0" name="Text 17"/>
          <p:cNvSpPr/>
          <p:nvPr/>
        </p:nvSpPr>
        <p:spPr>
          <a:xfrm>
            <a:off x="9810750" y="16192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Supreme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15450" y="20574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11,987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315450" y="25146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pizzas sold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315450" y="28194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26.7% of total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29350" y="3352800"/>
            <a:ext cx="2705100" cy="1828800"/>
          </a:xfrm>
          <a:custGeom>
            <a:avLst/>
            <a:gdLst/>
            <a:ahLst/>
            <a:cxnLst/>
            <a:rect l="l" t="t" r="r" b="b"/>
            <a:pathLst>
              <a:path w="2705100" h="1828800">
                <a:moveTo>
                  <a:pt x="38100" y="0"/>
                </a:moveTo>
                <a:lnTo>
                  <a:pt x="2628894" y="0"/>
                </a:lnTo>
                <a:cubicBezTo>
                  <a:pt x="2670981" y="0"/>
                  <a:pt x="2705100" y="34119"/>
                  <a:pt x="2705100" y="76206"/>
                </a:cubicBezTo>
                <a:lnTo>
                  <a:pt x="2705100" y="1752594"/>
                </a:lnTo>
                <a:cubicBezTo>
                  <a:pt x="2705100" y="1794681"/>
                  <a:pt x="2670981" y="1828800"/>
                  <a:pt x="262889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229350" y="33528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6" name="Shape 23"/>
          <p:cNvSpPr/>
          <p:nvPr/>
        </p:nvSpPr>
        <p:spPr>
          <a:xfrm>
            <a:off x="6438900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553200" y="3657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0285" y="1994"/>
                </a:moveTo>
                <a:cubicBezTo>
                  <a:pt x="142190" y="179"/>
                  <a:pt x="144959" y="-476"/>
                  <a:pt x="147518" y="357"/>
                </a:cubicBezTo>
                <a:cubicBezTo>
                  <a:pt x="150435" y="1339"/>
                  <a:pt x="152400" y="4078"/>
                  <a:pt x="152400" y="7144"/>
                </a:cubicBezTo>
                <a:lnTo>
                  <a:pt x="152400" y="62776"/>
                </a:lnTo>
                <a:cubicBezTo>
                  <a:pt x="152400" y="101828"/>
                  <a:pt x="120223" y="133350"/>
                  <a:pt x="81320" y="133350"/>
                </a:cubicBezTo>
                <a:cubicBezTo>
                  <a:pt x="58400" y="133350"/>
                  <a:pt x="38636" y="118616"/>
                  <a:pt x="31462" y="98018"/>
                </a:cubicBezTo>
                <a:cubicBezTo>
                  <a:pt x="20925" y="107186"/>
                  <a:pt x="14287" y="120670"/>
                  <a:pt x="14287" y="135731"/>
                </a:cubicBezTo>
                <a:cubicBezTo>
                  <a:pt x="14287" y="139690"/>
                  <a:pt x="11103" y="142875"/>
                  <a:pt x="7144" y="142875"/>
                </a:cubicBezTo>
                <a:cubicBezTo>
                  <a:pt x="3185" y="142875"/>
                  <a:pt x="0" y="139690"/>
                  <a:pt x="0" y="135731"/>
                </a:cubicBezTo>
                <a:cubicBezTo>
                  <a:pt x="0" y="113437"/>
                  <a:pt x="11370" y="93791"/>
                  <a:pt x="28605" y="82242"/>
                </a:cubicBezTo>
                <a:cubicBezTo>
                  <a:pt x="39112" y="75218"/>
                  <a:pt x="51643" y="71438"/>
                  <a:pt x="64294" y="71438"/>
                </a:cubicBezTo>
                <a:lnTo>
                  <a:pt x="88106" y="71438"/>
                </a:lnTo>
                <a:cubicBezTo>
                  <a:pt x="92065" y="71438"/>
                  <a:pt x="95250" y="68253"/>
                  <a:pt x="95250" y="64294"/>
                </a:cubicBezTo>
                <a:cubicBezTo>
                  <a:pt x="95250" y="60335"/>
                  <a:pt x="92065" y="57150"/>
                  <a:pt x="88106" y="57150"/>
                </a:cubicBezTo>
                <a:lnTo>
                  <a:pt x="64294" y="57150"/>
                </a:lnTo>
                <a:cubicBezTo>
                  <a:pt x="52477" y="57150"/>
                  <a:pt x="41285" y="59769"/>
                  <a:pt x="31254" y="64443"/>
                </a:cubicBezTo>
                <a:cubicBezTo>
                  <a:pt x="38189" y="43607"/>
                  <a:pt x="57805" y="28575"/>
                  <a:pt x="80962" y="28575"/>
                </a:cubicBezTo>
                <a:cubicBezTo>
                  <a:pt x="100727" y="28575"/>
                  <a:pt x="115431" y="21997"/>
                  <a:pt x="125224" y="15478"/>
                </a:cubicBezTo>
                <a:cubicBezTo>
                  <a:pt x="130939" y="11668"/>
                  <a:pt x="135791" y="7114"/>
                  <a:pt x="140315" y="1994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8" name="Text 25"/>
          <p:cNvSpPr/>
          <p:nvPr/>
        </p:nvSpPr>
        <p:spPr>
          <a:xfrm>
            <a:off x="6934200" y="3600450"/>
            <a:ext cx="61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Veggie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38900" y="40386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788A9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11,649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38900" y="44958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pizzas sold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38900" y="48006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25.9% of total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105900" y="3352800"/>
            <a:ext cx="2705100" cy="1828800"/>
          </a:xfrm>
          <a:custGeom>
            <a:avLst/>
            <a:gdLst/>
            <a:ahLst/>
            <a:cxnLst/>
            <a:rect l="l" t="t" r="r" b="b"/>
            <a:pathLst>
              <a:path w="2705100" h="1828800">
                <a:moveTo>
                  <a:pt x="38100" y="0"/>
                </a:moveTo>
                <a:lnTo>
                  <a:pt x="2628894" y="0"/>
                </a:lnTo>
                <a:cubicBezTo>
                  <a:pt x="2670981" y="0"/>
                  <a:pt x="2705100" y="34119"/>
                  <a:pt x="2705100" y="76206"/>
                </a:cubicBezTo>
                <a:lnTo>
                  <a:pt x="2705100" y="1752594"/>
                </a:lnTo>
                <a:cubicBezTo>
                  <a:pt x="2705100" y="1794681"/>
                  <a:pt x="2670981" y="1828800"/>
                  <a:pt x="2628894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9105900" y="33528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4" name="Shape 31"/>
          <p:cNvSpPr/>
          <p:nvPr/>
        </p:nvSpPr>
        <p:spPr>
          <a:xfrm>
            <a:off x="9315450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9429750" y="3657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7625" y="78938"/>
                </a:moveTo>
                <a:cubicBezTo>
                  <a:pt x="47625" y="81469"/>
                  <a:pt x="46613" y="83880"/>
                  <a:pt x="44827" y="85665"/>
                </a:cubicBezTo>
                <a:lnTo>
                  <a:pt x="36850" y="93643"/>
                </a:lnTo>
                <a:cubicBezTo>
                  <a:pt x="33189" y="97304"/>
                  <a:pt x="27176" y="97036"/>
                  <a:pt x="22146" y="95786"/>
                </a:cubicBezTo>
                <a:cubicBezTo>
                  <a:pt x="20776" y="95458"/>
                  <a:pt x="19318" y="95250"/>
                  <a:pt x="17830" y="95250"/>
                </a:cubicBezTo>
                <a:cubicBezTo>
                  <a:pt x="7977" y="95250"/>
                  <a:pt x="-30" y="103257"/>
                  <a:pt x="-30" y="113109"/>
                </a:cubicBezTo>
                <a:cubicBezTo>
                  <a:pt x="-30" y="122962"/>
                  <a:pt x="7977" y="130969"/>
                  <a:pt x="17830" y="130969"/>
                </a:cubicBezTo>
                <a:cubicBezTo>
                  <a:pt x="19705" y="130969"/>
                  <a:pt x="21401" y="132665"/>
                  <a:pt x="21401" y="134541"/>
                </a:cubicBezTo>
                <a:cubicBezTo>
                  <a:pt x="21401" y="144393"/>
                  <a:pt x="29408" y="152400"/>
                  <a:pt x="39261" y="152400"/>
                </a:cubicBezTo>
                <a:cubicBezTo>
                  <a:pt x="49113" y="152400"/>
                  <a:pt x="57120" y="144393"/>
                  <a:pt x="57120" y="134541"/>
                </a:cubicBezTo>
                <a:cubicBezTo>
                  <a:pt x="57120" y="133052"/>
                  <a:pt x="56942" y="131624"/>
                  <a:pt x="56584" y="130225"/>
                </a:cubicBezTo>
                <a:cubicBezTo>
                  <a:pt x="55334" y="125194"/>
                  <a:pt x="55037" y="119182"/>
                  <a:pt x="58728" y="115520"/>
                </a:cubicBezTo>
                <a:lnTo>
                  <a:pt x="66705" y="107543"/>
                </a:lnTo>
                <a:cubicBezTo>
                  <a:pt x="68491" y="105757"/>
                  <a:pt x="70902" y="104745"/>
                  <a:pt x="73432" y="104745"/>
                </a:cubicBezTo>
                <a:lnTo>
                  <a:pt x="99983" y="104745"/>
                </a:lnTo>
                <a:cubicBezTo>
                  <a:pt x="101858" y="104745"/>
                  <a:pt x="103674" y="104656"/>
                  <a:pt x="105489" y="104448"/>
                </a:cubicBezTo>
                <a:cubicBezTo>
                  <a:pt x="109031" y="104090"/>
                  <a:pt x="110371" y="99834"/>
                  <a:pt x="108704" y="96709"/>
                </a:cubicBezTo>
                <a:cubicBezTo>
                  <a:pt x="106174" y="92006"/>
                  <a:pt x="104745" y="86648"/>
                  <a:pt x="104745" y="80933"/>
                </a:cubicBezTo>
                <a:cubicBezTo>
                  <a:pt x="104745" y="62508"/>
                  <a:pt x="119658" y="47595"/>
                  <a:pt x="138083" y="47595"/>
                </a:cubicBezTo>
                <a:cubicBezTo>
                  <a:pt x="140464" y="47595"/>
                  <a:pt x="142756" y="47833"/>
                  <a:pt x="144988" y="48310"/>
                </a:cubicBezTo>
                <a:cubicBezTo>
                  <a:pt x="148471" y="49054"/>
                  <a:pt x="152162" y="46553"/>
                  <a:pt x="151537" y="43071"/>
                </a:cubicBezTo>
                <a:cubicBezTo>
                  <a:pt x="147161" y="18574"/>
                  <a:pt x="125730" y="-30"/>
                  <a:pt x="99983" y="-30"/>
                </a:cubicBezTo>
                <a:cubicBezTo>
                  <a:pt x="71051" y="-30"/>
                  <a:pt x="47595" y="23426"/>
                  <a:pt x="47595" y="52358"/>
                </a:cubicBezTo>
                <a:lnTo>
                  <a:pt x="47595" y="78909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6" name="Text 33"/>
          <p:cNvSpPr/>
          <p:nvPr/>
        </p:nvSpPr>
        <p:spPr>
          <a:xfrm>
            <a:off x="9810750" y="3600450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Chicken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315450" y="40386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11,050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315450" y="449580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pizzas sold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315450" y="48006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24.6% of total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14110" y="5337810"/>
            <a:ext cx="5589270" cy="1512570"/>
          </a:xfrm>
          <a:custGeom>
            <a:avLst/>
            <a:gdLst/>
            <a:ahLst/>
            <a:cxnLst/>
            <a:rect l="l" t="t" r="r" b="b"/>
            <a:pathLst>
              <a:path w="5589270" h="1512570">
                <a:moveTo>
                  <a:pt x="76203" y="0"/>
                </a:moveTo>
                <a:lnTo>
                  <a:pt x="5513067" y="0"/>
                </a:lnTo>
                <a:cubicBezTo>
                  <a:pt x="5555153" y="0"/>
                  <a:pt x="5589270" y="34117"/>
                  <a:pt x="5589270" y="76203"/>
                </a:cubicBezTo>
                <a:lnTo>
                  <a:pt x="5589270" y="1436367"/>
                </a:lnTo>
                <a:cubicBezTo>
                  <a:pt x="5589270" y="1478453"/>
                  <a:pt x="5555153" y="1512570"/>
                  <a:pt x="5513067" y="1512570"/>
                </a:cubicBezTo>
                <a:lnTo>
                  <a:pt x="76203" y="1512570"/>
                </a:lnTo>
                <a:cubicBezTo>
                  <a:pt x="34117" y="1512570"/>
                  <a:pt x="0" y="1478453"/>
                  <a:pt x="0" y="143636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08420" y="557021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2" name="Text 39"/>
          <p:cNvSpPr/>
          <p:nvPr/>
        </p:nvSpPr>
        <p:spPr>
          <a:xfrm>
            <a:off x="6760845" y="5532118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 Balance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408420" y="5913118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 pizzas lead overall demand, but Supreme, Veggie, and Chicken categories show balanced performance with only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8.5% variance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highest and lowest. This diversification reduces risk.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Insights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Customer Ordering Behavior &amp; Traffic Patterns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6162675" cy="3848100"/>
          </a:xfrm>
          <a:custGeom>
            <a:avLst/>
            <a:gdLst/>
            <a:ahLst/>
            <a:cxnLst/>
            <a:rect l="l" t="t" r="r" b="b"/>
            <a:pathLst>
              <a:path w="6162675" h="3848100">
                <a:moveTo>
                  <a:pt x="76192" y="0"/>
                </a:moveTo>
                <a:lnTo>
                  <a:pt x="6086483" y="0"/>
                </a:lnTo>
                <a:cubicBezTo>
                  <a:pt x="6128563" y="0"/>
                  <a:pt x="6162675" y="34112"/>
                  <a:pt x="6162675" y="76192"/>
                </a:cubicBezTo>
                <a:lnTo>
                  <a:pt x="6162675" y="3771908"/>
                </a:lnTo>
                <a:cubicBezTo>
                  <a:pt x="6162675" y="3813988"/>
                  <a:pt x="6128563" y="3848100"/>
                  <a:pt x="6086483" y="3848100"/>
                </a:cubicBezTo>
                <a:lnTo>
                  <a:pt x="76192" y="3848100"/>
                </a:lnTo>
                <a:cubicBezTo>
                  <a:pt x="34112" y="3848100"/>
                  <a:pt x="0" y="3813988"/>
                  <a:pt x="0" y="37719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D3136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562100"/>
            <a:ext cx="587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Orders by Hour of Day</a:t>
            </a:r>
            <a:endParaRPr lang="en-US" sz="1600" dirty="0"/>
          </a:p>
        </p:txBody>
      </p:sp>
      <p:pic>
        <p:nvPicPr>
          <p:cNvPr id="7" name="Image 0" descr="https://kimi-img.moonshot.cn/pub/slides/26-02-01-23:08:32-d5vmos77ajp65b0ukijg.png">    </p:cNvPr>
          <p:cNvPicPr>
            <a:picLocks noChangeAspect="1"/>
          </p:cNvPicPr>
          <p:nvPr/>
        </p:nvPicPr>
        <p:blipFill>
          <a:blip r:embed="rId1"/>
          <a:srcRect l="0" r="0" t="49" b="49"/>
          <a:stretch/>
        </p:blipFill>
        <p:spPr>
          <a:xfrm>
            <a:off x="571500" y="1981200"/>
            <a:ext cx="5781675" cy="3048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84810" y="5414010"/>
            <a:ext cx="1941195" cy="1112520"/>
          </a:xfrm>
          <a:custGeom>
            <a:avLst/>
            <a:gdLst/>
            <a:ahLst/>
            <a:cxnLst/>
            <a:rect l="l" t="t" r="r" b="b"/>
            <a:pathLst>
              <a:path w="1941195" h="1112520">
                <a:moveTo>
                  <a:pt x="76196" y="0"/>
                </a:moveTo>
                <a:lnTo>
                  <a:pt x="1864999" y="0"/>
                </a:lnTo>
                <a:cubicBezTo>
                  <a:pt x="1907081" y="0"/>
                  <a:pt x="1941195" y="34114"/>
                  <a:pt x="1941195" y="76196"/>
                </a:cubicBezTo>
                <a:lnTo>
                  <a:pt x="1941195" y="1036324"/>
                </a:lnTo>
                <a:cubicBezTo>
                  <a:pt x="1941195" y="1078406"/>
                  <a:pt x="1907081" y="1112520"/>
                  <a:pt x="1864999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 w="10160">
            <a:solidFill>
              <a:srgbClr val="E8A95E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28725" y="55702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9564" y="-4509"/>
                </a:moveTo>
                <a:cubicBezTo>
                  <a:pt x="82867" y="-5894"/>
                  <a:pt x="86618" y="-5492"/>
                  <a:pt x="89609" y="-3527"/>
                </a:cubicBezTo>
                <a:lnTo>
                  <a:pt x="128811" y="22458"/>
                </a:lnTo>
                <a:lnTo>
                  <a:pt x="168012" y="-3527"/>
                </a:lnTo>
                <a:cubicBezTo>
                  <a:pt x="171004" y="-5492"/>
                  <a:pt x="174754" y="-5849"/>
                  <a:pt x="178058" y="-4509"/>
                </a:cubicBezTo>
                <a:cubicBezTo>
                  <a:pt x="181362" y="-3170"/>
                  <a:pt x="183684" y="-223"/>
                  <a:pt x="184398" y="3259"/>
                </a:cubicBezTo>
                <a:lnTo>
                  <a:pt x="193730" y="49337"/>
                </a:lnTo>
                <a:lnTo>
                  <a:pt x="239807" y="58668"/>
                </a:lnTo>
                <a:cubicBezTo>
                  <a:pt x="243289" y="59382"/>
                  <a:pt x="246236" y="61793"/>
                  <a:pt x="247576" y="65053"/>
                </a:cubicBezTo>
                <a:cubicBezTo>
                  <a:pt x="248915" y="68312"/>
                  <a:pt x="248558" y="72107"/>
                  <a:pt x="246593" y="75099"/>
                </a:cubicBezTo>
                <a:lnTo>
                  <a:pt x="220608" y="114300"/>
                </a:lnTo>
                <a:lnTo>
                  <a:pt x="246593" y="153501"/>
                </a:lnTo>
                <a:cubicBezTo>
                  <a:pt x="248558" y="156493"/>
                  <a:pt x="248915" y="160243"/>
                  <a:pt x="247576" y="163547"/>
                </a:cubicBezTo>
                <a:cubicBezTo>
                  <a:pt x="246236" y="166851"/>
                  <a:pt x="243289" y="169262"/>
                  <a:pt x="239807" y="169932"/>
                </a:cubicBezTo>
                <a:lnTo>
                  <a:pt x="193685" y="179219"/>
                </a:lnTo>
                <a:lnTo>
                  <a:pt x="184398" y="225341"/>
                </a:lnTo>
                <a:cubicBezTo>
                  <a:pt x="183684" y="228823"/>
                  <a:pt x="181273" y="231770"/>
                  <a:pt x="178013" y="233109"/>
                </a:cubicBezTo>
                <a:cubicBezTo>
                  <a:pt x="174754" y="234449"/>
                  <a:pt x="170959" y="234092"/>
                  <a:pt x="167967" y="232127"/>
                </a:cubicBezTo>
                <a:lnTo>
                  <a:pt x="128766" y="206142"/>
                </a:lnTo>
                <a:lnTo>
                  <a:pt x="89565" y="232127"/>
                </a:lnTo>
                <a:cubicBezTo>
                  <a:pt x="86573" y="234092"/>
                  <a:pt x="82823" y="234449"/>
                  <a:pt x="79519" y="233109"/>
                </a:cubicBezTo>
                <a:cubicBezTo>
                  <a:pt x="76215" y="231770"/>
                  <a:pt x="73804" y="228823"/>
                  <a:pt x="73134" y="225341"/>
                </a:cubicBezTo>
                <a:lnTo>
                  <a:pt x="63847" y="179219"/>
                </a:lnTo>
                <a:lnTo>
                  <a:pt x="17725" y="169887"/>
                </a:lnTo>
                <a:cubicBezTo>
                  <a:pt x="14243" y="169173"/>
                  <a:pt x="11296" y="166762"/>
                  <a:pt x="9957" y="163503"/>
                </a:cubicBezTo>
                <a:cubicBezTo>
                  <a:pt x="8617" y="160243"/>
                  <a:pt x="8974" y="156448"/>
                  <a:pt x="10939" y="153457"/>
                </a:cubicBezTo>
                <a:lnTo>
                  <a:pt x="36924" y="114300"/>
                </a:lnTo>
                <a:lnTo>
                  <a:pt x="10939" y="75099"/>
                </a:lnTo>
                <a:cubicBezTo>
                  <a:pt x="8974" y="72107"/>
                  <a:pt x="8617" y="68357"/>
                  <a:pt x="9957" y="65053"/>
                </a:cubicBezTo>
                <a:cubicBezTo>
                  <a:pt x="11296" y="61749"/>
                  <a:pt x="14243" y="59338"/>
                  <a:pt x="17725" y="58668"/>
                </a:cubicBezTo>
                <a:lnTo>
                  <a:pt x="63847" y="49381"/>
                </a:lnTo>
                <a:lnTo>
                  <a:pt x="73179" y="3259"/>
                </a:lnTo>
                <a:cubicBezTo>
                  <a:pt x="73893" y="-223"/>
                  <a:pt x="76304" y="-3170"/>
                  <a:pt x="79564" y="-4509"/>
                </a:cubicBezTo>
                <a:close/>
                <a:moveTo>
                  <a:pt x="92690" y="114300"/>
                </a:moveTo>
                <a:cubicBezTo>
                  <a:pt x="92690" y="101475"/>
                  <a:pt x="99532" y="89624"/>
                  <a:pt x="110639" y="83212"/>
                </a:cubicBezTo>
                <a:cubicBezTo>
                  <a:pt x="121746" y="76800"/>
                  <a:pt x="135429" y="76800"/>
                  <a:pt x="146536" y="83212"/>
                </a:cubicBezTo>
                <a:cubicBezTo>
                  <a:pt x="157643" y="89624"/>
                  <a:pt x="164485" y="101475"/>
                  <a:pt x="164485" y="114300"/>
                </a:cubicBezTo>
                <a:cubicBezTo>
                  <a:pt x="164485" y="134112"/>
                  <a:pt x="148400" y="150197"/>
                  <a:pt x="128588" y="150197"/>
                </a:cubicBezTo>
                <a:cubicBezTo>
                  <a:pt x="108775" y="150197"/>
                  <a:pt x="92690" y="134112"/>
                  <a:pt x="92690" y="114300"/>
                </a:cubicBezTo>
                <a:close/>
                <a:moveTo>
                  <a:pt x="185916" y="114300"/>
                </a:moveTo>
                <a:cubicBezTo>
                  <a:pt x="185916" y="82659"/>
                  <a:pt x="160228" y="56971"/>
                  <a:pt x="128588" y="56971"/>
                </a:cubicBezTo>
                <a:cubicBezTo>
                  <a:pt x="96947" y="56971"/>
                  <a:pt x="71259" y="82659"/>
                  <a:pt x="71259" y="114300"/>
                </a:cubicBezTo>
                <a:cubicBezTo>
                  <a:pt x="71259" y="134782"/>
                  <a:pt x="82186" y="153707"/>
                  <a:pt x="99923" y="163948"/>
                </a:cubicBezTo>
                <a:cubicBezTo>
                  <a:pt x="117661" y="174189"/>
                  <a:pt x="139514" y="174189"/>
                  <a:pt x="157252" y="163948"/>
                </a:cubicBezTo>
                <a:cubicBezTo>
                  <a:pt x="174989" y="153707"/>
                  <a:pt x="185916" y="134782"/>
                  <a:pt x="185916" y="11430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0" name="Text 7"/>
          <p:cNvSpPr/>
          <p:nvPr/>
        </p:nvSpPr>
        <p:spPr>
          <a:xfrm>
            <a:off x="507682" y="5875018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Lunch Peak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3870" y="6065518"/>
            <a:ext cx="174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12PM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89835" y="5414010"/>
            <a:ext cx="1941195" cy="1112520"/>
          </a:xfrm>
          <a:custGeom>
            <a:avLst/>
            <a:gdLst/>
            <a:ahLst/>
            <a:cxnLst/>
            <a:rect l="l" t="t" r="r" b="b"/>
            <a:pathLst>
              <a:path w="1941195" h="1112520">
                <a:moveTo>
                  <a:pt x="76196" y="0"/>
                </a:moveTo>
                <a:lnTo>
                  <a:pt x="1864999" y="0"/>
                </a:lnTo>
                <a:cubicBezTo>
                  <a:pt x="1907081" y="0"/>
                  <a:pt x="1941195" y="34114"/>
                  <a:pt x="1941195" y="76196"/>
                </a:cubicBezTo>
                <a:lnTo>
                  <a:pt x="1941195" y="1036324"/>
                </a:lnTo>
                <a:cubicBezTo>
                  <a:pt x="1941195" y="1078406"/>
                  <a:pt x="1907081" y="1112520"/>
                  <a:pt x="1864999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48038" y="55702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51167" y="0"/>
                  <a:pt x="0" y="51167"/>
                  <a:pt x="0" y="114300"/>
                </a:cubicBezTo>
                <a:cubicBezTo>
                  <a:pt x="0" y="177433"/>
                  <a:pt x="51167" y="228600"/>
                  <a:pt x="114300" y="228600"/>
                </a:cubicBezTo>
                <a:cubicBezTo>
                  <a:pt x="145018" y="228600"/>
                  <a:pt x="172923" y="216456"/>
                  <a:pt x="193462" y="196721"/>
                </a:cubicBezTo>
                <a:cubicBezTo>
                  <a:pt x="196721" y="193596"/>
                  <a:pt x="197659" y="188729"/>
                  <a:pt x="195828" y="184621"/>
                </a:cubicBezTo>
                <a:cubicBezTo>
                  <a:pt x="193997" y="180514"/>
                  <a:pt x="189711" y="177969"/>
                  <a:pt x="185202" y="178326"/>
                </a:cubicBezTo>
                <a:cubicBezTo>
                  <a:pt x="183014" y="178504"/>
                  <a:pt x="180826" y="178594"/>
                  <a:pt x="178594" y="178594"/>
                </a:cubicBezTo>
                <a:cubicBezTo>
                  <a:pt x="133231" y="178594"/>
                  <a:pt x="96441" y="141803"/>
                  <a:pt x="96441" y="96441"/>
                </a:cubicBezTo>
                <a:cubicBezTo>
                  <a:pt x="96441" y="64249"/>
                  <a:pt x="114970" y="36344"/>
                  <a:pt x="142027" y="22860"/>
                </a:cubicBezTo>
                <a:cubicBezTo>
                  <a:pt x="146090" y="20851"/>
                  <a:pt x="148411" y="16475"/>
                  <a:pt x="147876" y="11966"/>
                </a:cubicBezTo>
                <a:cubicBezTo>
                  <a:pt x="147340" y="7456"/>
                  <a:pt x="144036" y="3795"/>
                  <a:pt x="139616" y="2813"/>
                </a:cubicBezTo>
                <a:cubicBezTo>
                  <a:pt x="131445" y="982"/>
                  <a:pt x="122962" y="0"/>
                  <a:pt x="1143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1"/>
          <p:cNvSpPr/>
          <p:nvPr/>
        </p:nvSpPr>
        <p:spPr>
          <a:xfrm>
            <a:off x="2612708" y="5875018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Dinner Peak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88895" y="6065518"/>
            <a:ext cx="174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6-8PM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94860" y="5414010"/>
            <a:ext cx="1941195" cy="1112520"/>
          </a:xfrm>
          <a:custGeom>
            <a:avLst/>
            <a:gdLst/>
            <a:ahLst/>
            <a:cxnLst/>
            <a:rect l="l" t="t" r="r" b="b"/>
            <a:pathLst>
              <a:path w="1941195" h="1112520">
                <a:moveTo>
                  <a:pt x="76196" y="0"/>
                </a:moveTo>
                <a:lnTo>
                  <a:pt x="1864999" y="0"/>
                </a:lnTo>
                <a:cubicBezTo>
                  <a:pt x="1907081" y="0"/>
                  <a:pt x="1941195" y="34114"/>
                  <a:pt x="1941195" y="76196"/>
                </a:cubicBezTo>
                <a:lnTo>
                  <a:pt x="1941195" y="1036324"/>
                </a:lnTo>
                <a:cubicBezTo>
                  <a:pt x="1941195" y="1078406"/>
                  <a:pt x="1907081" y="1112520"/>
                  <a:pt x="1864999" y="1112520"/>
                </a:cubicBezTo>
                <a:lnTo>
                  <a:pt x="76196" y="1112520"/>
                </a:lnTo>
                <a:cubicBezTo>
                  <a:pt x="34114" y="1112520"/>
                  <a:pt x="0" y="1078406"/>
                  <a:pt x="0" y="10363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0160">
            <a:solidFill>
              <a:srgbClr val="788A9C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53063" y="55702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8" name="Text 15"/>
          <p:cNvSpPr/>
          <p:nvPr/>
        </p:nvSpPr>
        <p:spPr>
          <a:xfrm>
            <a:off x="4717733" y="5875018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Off-Peak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93920" y="6065518"/>
            <a:ext cx="174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2-5PM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91325" y="1371600"/>
            <a:ext cx="5019675" cy="2628900"/>
          </a:xfrm>
          <a:custGeom>
            <a:avLst/>
            <a:gdLst/>
            <a:ahLst/>
            <a:cxnLst/>
            <a:rect l="l" t="t" r="r" b="b"/>
            <a:pathLst>
              <a:path w="5019675" h="2628900">
                <a:moveTo>
                  <a:pt x="38100" y="0"/>
                </a:moveTo>
                <a:lnTo>
                  <a:pt x="4943463" y="0"/>
                </a:lnTo>
                <a:cubicBezTo>
                  <a:pt x="4985554" y="0"/>
                  <a:pt x="5019675" y="34121"/>
                  <a:pt x="5019675" y="76212"/>
                </a:cubicBezTo>
                <a:lnTo>
                  <a:pt x="5019675" y="2552688"/>
                </a:lnTo>
                <a:cubicBezTo>
                  <a:pt x="5019675" y="2594779"/>
                  <a:pt x="4985554" y="2628900"/>
                  <a:pt x="4943463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791325" y="13716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2" name="Text 19"/>
          <p:cNvSpPr/>
          <p:nvPr/>
        </p:nvSpPr>
        <p:spPr>
          <a:xfrm>
            <a:off x="7038975" y="1600200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Common Pizza Size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038975" y="2019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297341" y="22574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3762" y="17859"/>
                </a:moveTo>
                <a:lnTo>
                  <a:pt x="13395" y="17859"/>
                </a:lnTo>
                <a:cubicBezTo>
                  <a:pt x="5972" y="17859"/>
                  <a:pt x="0" y="23831"/>
                  <a:pt x="0" y="31254"/>
                </a:cubicBezTo>
                <a:lnTo>
                  <a:pt x="0" y="111621"/>
                </a:lnTo>
                <a:cubicBezTo>
                  <a:pt x="0" y="117035"/>
                  <a:pt x="3237" y="121946"/>
                  <a:pt x="8260" y="124011"/>
                </a:cubicBezTo>
                <a:cubicBezTo>
                  <a:pt x="13283" y="126076"/>
                  <a:pt x="19031" y="124904"/>
                  <a:pt x="22882" y="121109"/>
                </a:cubicBezTo>
                <a:lnTo>
                  <a:pt x="45207" y="98785"/>
                </a:lnTo>
                <a:lnTo>
                  <a:pt x="89297" y="142875"/>
                </a:lnTo>
                <a:lnTo>
                  <a:pt x="45207" y="186965"/>
                </a:lnTo>
                <a:lnTo>
                  <a:pt x="22882" y="164641"/>
                </a:lnTo>
                <a:cubicBezTo>
                  <a:pt x="19031" y="160790"/>
                  <a:pt x="13283" y="159674"/>
                  <a:pt x="8260" y="161739"/>
                </a:cubicBezTo>
                <a:cubicBezTo>
                  <a:pt x="3237" y="163804"/>
                  <a:pt x="0" y="168715"/>
                  <a:pt x="0" y="174129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lnTo>
                  <a:pt x="93762" y="267891"/>
                </a:lnTo>
                <a:cubicBezTo>
                  <a:pt x="99175" y="267891"/>
                  <a:pt x="104087" y="264654"/>
                  <a:pt x="106152" y="259631"/>
                </a:cubicBezTo>
                <a:cubicBezTo>
                  <a:pt x="108217" y="254608"/>
                  <a:pt x="107100" y="248859"/>
                  <a:pt x="103250" y="245008"/>
                </a:cubicBezTo>
                <a:lnTo>
                  <a:pt x="80925" y="222684"/>
                </a:lnTo>
                <a:lnTo>
                  <a:pt x="125016" y="178594"/>
                </a:lnTo>
                <a:lnTo>
                  <a:pt x="169106" y="222684"/>
                </a:lnTo>
                <a:lnTo>
                  <a:pt x="146782" y="245008"/>
                </a:lnTo>
                <a:cubicBezTo>
                  <a:pt x="142931" y="248859"/>
                  <a:pt x="141815" y="254608"/>
                  <a:pt x="143880" y="259631"/>
                </a:cubicBezTo>
                <a:cubicBezTo>
                  <a:pt x="145945" y="264654"/>
                  <a:pt x="150856" y="267891"/>
                  <a:pt x="156270" y="267891"/>
                </a:cubicBezTo>
                <a:lnTo>
                  <a:pt x="236637" y="267891"/>
                </a:lnTo>
                <a:cubicBezTo>
                  <a:pt x="244060" y="267891"/>
                  <a:pt x="250031" y="261919"/>
                  <a:pt x="250031" y="254496"/>
                </a:cubicBezTo>
                <a:lnTo>
                  <a:pt x="250031" y="174129"/>
                </a:lnTo>
                <a:cubicBezTo>
                  <a:pt x="250031" y="168715"/>
                  <a:pt x="246794" y="163804"/>
                  <a:pt x="241771" y="161739"/>
                </a:cubicBezTo>
                <a:cubicBezTo>
                  <a:pt x="236748" y="159674"/>
                  <a:pt x="231000" y="160790"/>
                  <a:pt x="227149" y="164641"/>
                </a:cubicBezTo>
                <a:lnTo>
                  <a:pt x="204825" y="186965"/>
                </a:lnTo>
                <a:lnTo>
                  <a:pt x="160734" y="142875"/>
                </a:lnTo>
                <a:lnTo>
                  <a:pt x="204825" y="98785"/>
                </a:lnTo>
                <a:lnTo>
                  <a:pt x="227149" y="121109"/>
                </a:lnTo>
                <a:cubicBezTo>
                  <a:pt x="231000" y="124960"/>
                  <a:pt x="236748" y="126076"/>
                  <a:pt x="241771" y="124011"/>
                </a:cubicBezTo>
                <a:cubicBezTo>
                  <a:pt x="246794" y="121946"/>
                  <a:pt x="250031" y="117035"/>
                  <a:pt x="250031" y="111621"/>
                </a:cubicBezTo>
                <a:lnTo>
                  <a:pt x="250031" y="31254"/>
                </a:lnTo>
                <a:cubicBezTo>
                  <a:pt x="250031" y="23831"/>
                  <a:pt x="244060" y="17859"/>
                  <a:pt x="236637" y="17859"/>
                </a:cubicBezTo>
                <a:lnTo>
                  <a:pt x="156270" y="17859"/>
                </a:lnTo>
                <a:cubicBezTo>
                  <a:pt x="150856" y="17859"/>
                  <a:pt x="145945" y="21096"/>
                  <a:pt x="143880" y="26119"/>
                </a:cubicBezTo>
                <a:cubicBezTo>
                  <a:pt x="141815" y="31142"/>
                  <a:pt x="142987" y="36891"/>
                  <a:pt x="146782" y="40742"/>
                </a:cubicBezTo>
                <a:lnTo>
                  <a:pt x="169106" y="63066"/>
                </a:lnTo>
                <a:lnTo>
                  <a:pt x="125016" y="107156"/>
                </a:lnTo>
                <a:lnTo>
                  <a:pt x="80925" y="63066"/>
                </a:lnTo>
                <a:lnTo>
                  <a:pt x="103250" y="40742"/>
                </a:lnTo>
                <a:cubicBezTo>
                  <a:pt x="107100" y="36891"/>
                  <a:pt x="108217" y="31142"/>
                  <a:pt x="106152" y="26119"/>
                </a:cubicBezTo>
                <a:cubicBezTo>
                  <a:pt x="104087" y="21096"/>
                  <a:pt x="99175" y="17859"/>
                  <a:pt x="93762" y="17859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5" name="Text 22"/>
          <p:cNvSpPr/>
          <p:nvPr/>
        </p:nvSpPr>
        <p:spPr>
          <a:xfrm>
            <a:off x="7953375" y="2038350"/>
            <a:ext cx="1400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Large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953375" y="253365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Dominates orders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041356" y="29813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8" name="Text 25"/>
          <p:cNvSpPr/>
          <p:nvPr/>
        </p:nvSpPr>
        <p:spPr>
          <a:xfrm>
            <a:off x="7281863" y="2933700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Preference for group/family consumption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083028" y="3286125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35421" y="6251"/>
                </a:moveTo>
                <a:cubicBezTo>
                  <a:pt x="35421" y="2787"/>
                  <a:pt x="38208" y="0"/>
                  <a:pt x="41672" y="0"/>
                </a:cubicBezTo>
                <a:cubicBezTo>
                  <a:pt x="45136" y="0"/>
                  <a:pt x="47923" y="2787"/>
                  <a:pt x="47923" y="6251"/>
                </a:cubicBezTo>
                <a:lnTo>
                  <a:pt x="47923" y="16669"/>
                </a:lnTo>
                <a:lnTo>
                  <a:pt x="62508" y="16669"/>
                </a:lnTo>
                <a:cubicBezTo>
                  <a:pt x="67118" y="16669"/>
                  <a:pt x="70842" y="20393"/>
                  <a:pt x="70842" y="25003"/>
                </a:cubicBezTo>
                <a:cubicBezTo>
                  <a:pt x="70842" y="29613"/>
                  <a:pt x="67118" y="33337"/>
                  <a:pt x="62508" y="33337"/>
                </a:cubicBezTo>
                <a:lnTo>
                  <a:pt x="32582" y="33337"/>
                </a:lnTo>
                <a:cubicBezTo>
                  <a:pt x="26097" y="33337"/>
                  <a:pt x="20836" y="38599"/>
                  <a:pt x="20836" y="45084"/>
                </a:cubicBezTo>
                <a:cubicBezTo>
                  <a:pt x="20836" y="50944"/>
                  <a:pt x="25133" y="55892"/>
                  <a:pt x="30915" y="56726"/>
                </a:cubicBezTo>
                <a:lnTo>
                  <a:pt x="54772" y="60138"/>
                </a:lnTo>
                <a:cubicBezTo>
                  <a:pt x="68785" y="62143"/>
                  <a:pt x="79177" y="74124"/>
                  <a:pt x="79177" y="88266"/>
                </a:cubicBezTo>
                <a:cubicBezTo>
                  <a:pt x="79177" y="103971"/>
                  <a:pt x="66441" y="116681"/>
                  <a:pt x="50762" y="116681"/>
                </a:cubicBezTo>
                <a:lnTo>
                  <a:pt x="47923" y="116681"/>
                </a:lnTo>
                <a:lnTo>
                  <a:pt x="47923" y="127099"/>
                </a:lnTo>
                <a:cubicBezTo>
                  <a:pt x="47923" y="130563"/>
                  <a:pt x="45136" y="133350"/>
                  <a:pt x="41672" y="133350"/>
                </a:cubicBezTo>
                <a:cubicBezTo>
                  <a:pt x="38208" y="133350"/>
                  <a:pt x="35421" y="130563"/>
                  <a:pt x="35421" y="127099"/>
                </a:cubicBezTo>
                <a:lnTo>
                  <a:pt x="35421" y="116681"/>
                </a:lnTo>
                <a:lnTo>
                  <a:pt x="16669" y="116681"/>
                </a:lnTo>
                <a:cubicBezTo>
                  <a:pt x="12059" y="116681"/>
                  <a:pt x="8334" y="112957"/>
                  <a:pt x="8334" y="108347"/>
                </a:cubicBezTo>
                <a:cubicBezTo>
                  <a:pt x="8334" y="103737"/>
                  <a:pt x="12059" y="100013"/>
                  <a:pt x="16669" y="100013"/>
                </a:cubicBezTo>
                <a:lnTo>
                  <a:pt x="50762" y="100013"/>
                </a:lnTo>
                <a:cubicBezTo>
                  <a:pt x="57247" y="100013"/>
                  <a:pt x="62508" y="94751"/>
                  <a:pt x="62508" y="88266"/>
                </a:cubicBezTo>
                <a:cubicBezTo>
                  <a:pt x="62508" y="82406"/>
                  <a:pt x="58210" y="77458"/>
                  <a:pt x="52428" y="76624"/>
                </a:cubicBezTo>
                <a:lnTo>
                  <a:pt x="28571" y="73212"/>
                </a:lnTo>
                <a:cubicBezTo>
                  <a:pt x="14559" y="71233"/>
                  <a:pt x="4167" y="59226"/>
                  <a:pt x="4167" y="45084"/>
                </a:cubicBezTo>
                <a:cubicBezTo>
                  <a:pt x="4167" y="29405"/>
                  <a:pt x="16903" y="16669"/>
                  <a:pt x="32582" y="16669"/>
                </a:cubicBezTo>
                <a:lnTo>
                  <a:pt x="35421" y="16669"/>
                </a:lnTo>
                <a:lnTo>
                  <a:pt x="35421" y="6251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0" name="Text 27"/>
          <p:cNvSpPr/>
          <p:nvPr/>
        </p:nvSpPr>
        <p:spPr>
          <a:xfrm>
            <a:off x="7281863" y="3238500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average order value (AOV)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058025" y="3590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2" name="Text 29"/>
          <p:cNvSpPr/>
          <p:nvPr/>
        </p:nvSpPr>
        <p:spPr>
          <a:xfrm>
            <a:off x="7281863" y="35433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Drives revenue per transaction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776085" y="4156710"/>
            <a:ext cx="5027295" cy="2369820"/>
          </a:xfrm>
          <a:custGeom>
            <a:avLst/>
            <a:gdLst/>
            <a:ahLst/>
            <a:cxnLst/>
            <a:rect l="l" t="t" r="r" b="b"/>
            <a:pathLst>
              <a:path w="5027295" h="2369820">
                <a:moveTo>
                  <a:pt x="76190" y="0"/>
                </a:moveTo>
                <a:lnTo>
                  <a:pt x="4951105" y="0"/>
                </a:lnTo>
                <a:cubicBezTo>
                  <a:pt x="4993156" y="0"/>
                  <a:pt x="5027295" y="34139"/>
                  <a:pt x="5027295" y="76190"/>
                </a:cubicBezTo>
                <a:lnTo>
                  <a:pt x="5027295" y="2293630"/>
                </a:lnTo>
                <a:cubicBezTo>
                  <a:pt x="5027295" y="2335709"/>
                  <a:pt x="4993184" y="2369820"/>
                  <a:pt x="4951105" y="2369820"/>
                </a:cubicBezTo>
                <a:lnTo>
                  <a:pt x="76190" y="2369820"/>
                </a:lnTo>
                <a:cubicBezTo>
                  <a:pt x="34139" y="2369820"/>
                  <a:pt x="0" y="2335681"/>
                  <a:pt x="0" y="2293630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70395" y="4351018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Opportunities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970395" y="47701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066836" y="48558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33337"/>
                </a:moveTo>
                <a:cubicBezTo>
                  <a:pt x="50006" y="19538"/>
                  <a:pt x="38803" y="8334"/>
                  <a:pt x="25003" y="8334"/>
                </a:cubicBezTo>
                <a:cubicBezTo>
                  <a:pt x="11204" y="8334"/>
                  <a:pt x="0" y="19538"/>
                  <a:pt x="0" y="33337"/>
                </a:cubicBezTo>
                <a:cubicBezTo>
                  <a:pt x="0" y="47137"/>
                  <a:pt x="11204" y="58341"/>
                  <a:pt x="25003" y="58341"/>
                </a:cubicBezTo>
                <a:cubicBezTo>
                  <a:pt x="38803" y="58341"/>
                  <a:pt x="50006" y="47137"/>
                  <a:pt x="50006" y="33338"/>
                </a:cubicBezTo>
                <a:close/>
                <a:moveTo>
                  <a:pt x="116681" y="100013"/>
                </a:moveTo>
                <a:cubicBezTo>
                  <a:pt x="116681" y="86213"/>
                  <a:pt x="105478" y="75009"/>
                  <a:pt x="91678" y="75009"/>
                </a:cubicBezTo>
                <a:cubicBezTo>
                  <a:pt x="77879" y="75009"/>
                  <a:pt x="66675" y="86213"/>
                  <a:pt x="66675" y="100013"/>
                </a:cubicBezTo>
                <a:cubicBezTo>
                  <a:pt x="66675" y="113812"/>
                  <a:pt x="77879" y="125016"/>
                  <a:pt x="91678" y="125016"/>
                </a:cubicBezTo>
                <a:cubicBezTo>
                  <a:pt x="105478" y="125016"/>
                  <a:pt x="116681" y="113812"/>
                  <a:pt x="116681" y="100013"/>
                </a:cubicBezTo>
                <a:close/>
                <a:moveTo>
                  <a:pt x="114233" y="22555"/>
                </a:moveTo>
                <a:cubicBezTo>
                  <a:pt x="117489" y="19299"/>
                  <a:pt x="117489" y="14012"/>
                  <a:pt x="114233" y="10757"/>
                </a:cubicBezTo>
                <a:cubicBezTo>
                  <a:pt x="110977" y="7501"/>
                  <a:pt x="105690" y="7501"/>
                  <a:pt x="102435" y="10757"/>
                </a:cubicBezTo>
                <a:lnTo>
                  <a:pt x="2422" y="110769"/>
                </a:lnTo>
                <a:cubicBezTo>
                  <a:pt x="-833" y="114025"/>
                  <a:pt x="-833" y="119312"/>
                  <a:pt x="2422" y="122567"/>
                </a:cubicBezTo>
                <a:cubicBezTo>
                  <a:pt x="5678" y="125823"/>
                  <a:pt x="10965" y="125823"/>
                  <a:pt x="14221" y="122567"/>
                </a:cubicBezTo>
                <a:lnTo>
                  <a:pt x="114233" y="22555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7" name="Text 34"/>
          <p:cNvSpPr/>
          <p:nvPr/>
        </p:nvSpPr>
        <p:spPr>
          <a:xfrm>
            <a:off x="7389495" y="4770118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Time-Based Promotions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389495" y="4998718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off-peak hours (2-5PM) with special offers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970395" y="53035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050167" y="538924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41" y="2084"/>
                </a:moveTo>
                <a:cubicBezTo>
                  <a:pt x="75590" y="2084"/>
                  <a:pt x="89595" y="16088"/>
                  <a:pt x="89595" y="33337"/>
                </a:cubicBezTo>
                <a:cubicBezTo>
                  <a:pt x="89595" y="50587"/>
                  <a:pt x="75590" y="64591"/>
                  <a:pt x="58341" y="64591"/>
                </a:cubicBezTo>
                <a:cubicBezTo>
                  <a:pt x="41091" y="64591"/>
                  <a:pt x="27087" y="50587"/>
                  <a:pt x="27087" y="33338"/>
                </a:cubicBezTo>
                <a:cubicBezTo>
                  <a:pt x="27087" y="16088"/>
                  <a:pt x="41091" y="2084"/>
                  <a:pt x="58341" y="2084"/>
                </a:cubicBezTo>
                <a:close/>
                <a:moveTo>
                  <a:pt x="50605" y="79177"/>
                </a:moveTo>
                <a:lnTo>
                  <a:pt x="66076" y="79177"/>
                </a:lnTo>
                <a:cubicBezTo>
                  <a:pt x="67092" y="79177"/>
                  <a:pt x="68134" y="79203"/>
                  <a:pt x="69149" y="79281"/>
                </a:cubicBezTo>
                <a:cubicBezTo>
                  <a:pt x="64930" y="86625"/>
                  <a:pt x="62508" y="95116"/>
                  <a:pt x="62508" y="104180"/>
                </a:cubicBezTo>
                <a:cubicBezTo>
                  <a:pt x="62508" y="115066"/>
                  <a:pt x="65998" y="125146"/>
                  <a:pt x="71884" y="133350"/>
                </a:cubicBezTo>
                <a:lnTo>
                  <a:pt x="11903" y="133350"/>
                </a:lnTo>
                <a:cubicBezTo>
                  <a:pt x="7631" y="133350"/>
                  <a:pt x="4167" y="129886"/>
                  <a:pt x="4167" y="125615"/>
                </a:cubicBezTo>
                <a:cubicBezTo>
                  <a:pt x="4167" y="99960"/>
                  <a:pt x="24951" y="79177"/>
                  <a:pt x="50605" y="79177"/>
                </a:cubicBezTo>
                <a:close/>
                <a:moveTo>
                  <a:pt x="75009" y="104180"/>
                </a:moveTo>
                <a:cubicBezTo>
                  <a:pt x="75009" y="83480"/>
                  <a:pt x="91815" y="66675"/>
                  <a:pt x="112514" y="66675"/>
                </a:cubicBezTo>
                <a:cubicBezTo>
                  <a:pt x="133213" y="66675"/>
                  <a:pt x="150019" y="83480"/>
                  <a:pt x="150019" y="104180"/>
                </a:cubicBezTo>
                <a:cubicBezTo>
                  <a:pt x="150019" y="124879"/>
                  <a:pt x="133213" y="141684"/>
                  <a:pt x="112514" y="141684"/>
                </a:cubicBezTo>
                <a:cubicBezTo>
                  <a:pt x="91815" y="141684"/>
                  <a:pt x="75009" y="124879"/>
                  <a:pt x="75009" y="104180"/>
                </a:cubicBezTo>
                <a:close/>
                <a:moveTo>
                  <a:pt x="112514" y="83344"/>
                </a:moveTo>
                <a:cubicBezTo>
                  <a:pt x="110222" y="83344"/>
                  <a:pt x="108347" y="85219"/>
                  <a:pt x="108347" y="87511"/>
                </a:cubicBezTo>
                <a:lnTo>
                  <a:pt x="108347" y="104180"/>
                </a:lnTo>
                <a:cubicBezTo>
                  <a:pt x="108347" y="106472"/>
                  <a:pt x="110222" y="108347"/>
                  <a:pt x="112514" y="108347"/>
                </a:cubicBezTo>
                <a:lnTo>
                  <a:pt x="125016" y="108347"/>
                </a:lnTo>
                <a:cubicBezTo>
                  <a:pt x="127308" y="108347"/>
                  <a:pt x="129183" y="106472"/>
                  <a:pt x="129183" y="104180"/>
                </a:cubicBezTo>
                <a:cubicBezTo>
                  <a:pt x="129183" y="101888"/>
                  <a:pt x="127308" y="100013"/>
                  <a:pt x="125016" y="100013"/>
                </a:cubicBezTo>
                <a:lnTo>
                  <a:pt x="116681" y="100013"/>
                </a:lnTo>
                <a:lnTo>
                  <a:pt x="116681" y="87511"/>
                </a:lnTo>
                <a:cubicBezTo>
                  <a:pt x="116681" y="85219"/>
                  <a:pt x="114806" y="83344"/>
                  <a:pt x="112514" y="83344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1" name="Text 38"/>
          <p:cNvSpPr/>
          <p:nvPr/>
        </p:nvSpPr>
        <p:spPr>
          <a:xfrm>
            <a:off x="7389495" y="5303518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Staffing Optimization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389495" y="5532118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workforce with lunch/dinner peaks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970395" y="58369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7066836" y="59226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96210" y="33337"/>
                </a:moveTo>
                <a:lnTo>
                  <a:pt x="87277" y="20836"/>
                </a:lnTo>
                <a:lnTo>
                  <a:pt x="29431" y="20836"/>
                </a:lnTo>
                <a:lnTo>
                  <a:pt x="20497" y="33337"/>
                </a:lnTo>
                <a:lnTo>
                  <a:pt x="96210" y="33337"/>
                </a:lnTo>
                <a:close/>
                <a:moveTo>
                  <a:pt x="0" y="38677"/>
                </a:moveTo>
                <a:cubicBezTo>
                  <a:pt x="0" y="35213"/>
                  <a:pt x="1094" y="31827"/>
                  <a:pt x="3099" y="28988"/>
                </a:cubicBezTo>
                <a:lnTo>
                  <a:pt x="15861" y="11147"/>
                </a:lnTo>
                <a:cubicBezTo>
                  <a:pt x="18987" y="6772"/>
                  <a:pt x="24039" y="4167"/>
                  <a:pt x="29405" y="4167"/>
                </a:cubicBezTo>
                <a:lnTo>
                  <a:pt x="87250" y="4167"/>
                </a:lnTo>
                <a:cubicBezTo>
                  <a:pt x="92642" y="4167"/>
                  <a:pt x="97695" y="6772"/>
                  <a:pt x="100820" y="11147"/>
                </a:cubicBezTo>
                <a:lnTo>
                  <a:pt x="113556" y="28988"/>
                </a:lnTo>
                <a:cubicBezTo>
                  <a:pt x="115587" y="31827"/>
                  <a:pt x="116655" y="35213"/>
                  <a:pt x="116655" y="3867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8677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45" name="Text 42"/>
          <p:cNvSpPr/>
          <p:nvPr/>
        </p:nvSpPr>
        <p:spPr>
          <a:xfrm>
            <a:off x="7389495" y="5836918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Planning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389495" y="6065518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 ingredients before peak hours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Revenue Leaders &amp; Category Contribution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581650" cy="3629025"/>
          </a:xfrm>
          <a:custGeom>
            <a:avLst/>
            <a:gdLst/>
            <a:ahLst/>
            <a:cxnLst/>
            <a:rect l="l" t="t" r="r" b="b"/>
            <a:pathLst>
              <a:path w="5581650" h="3629025">
                <a:moveTo>
                  <a:pt x="38100" y="0"/>
                </a:moveTo>
                <a:lnTo>
                  <a:pt x="5505440" y="0"/>
                </a:lnTo>
                <a:cubicBezTo>
                  <a:pt x="5547530" y="0"/>
                  <a:pt x="5581650" y="34120"/>
                  <a:pt x="5581650" y="76210"/>
                </a:cubicBezTo>
                <a:lnTo>
                  <a:pt x="5581650" y="3552815"/>
                </a:lnTo>
                <a:cubicBezTo>
                  <a:pt x="5581650" y="3594905"/>
                  <a:pt x="5547530" y="3629025"/>
                  <a:pt x="5505440" y="3629025"/>
                </a:cubicBezTo>
                <a:lnTo>
                  <a:pt x="38100" y="3629025"/>
                </a:lnTo>
                <a:cubicBezTo>
                  <a:pt x="17072" y="3629025"/>
                  <a:pt x="0" y="3611953"/>
                  <a:pt x="0" y="3590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3629025"/>
          </a:xfrm>
          <a:custGeom>
            <a:avLst/>
            <a:gdLst/>
            <a:ahLst/>
            <a:cxnLst/>
            <a:rect l="l" t="t" r="r" b="b"/>
            <a:pathLst>
              <a:path w="38100" h="3629025">
                <a:moveTo>
                  <a:pt x="38100" y="0"/>
                </a:moveTo>
                <a:lnTo>
                  <a:pt x="38100" y="0"/>
                </a:lnTo>
                <a:lnTo>
                  <a:pt x="38100" y="3629025"/>
                </a:lnTo>
                <a:lnTo>
                  <a:pt x="38100" y="3629025"/>
                </a:lnTo>
                <a:cubicBezTo>
                  <a:pt x="17072" y="3629025"/>
                  <a:pt x="0" y="3611953"/>
                  <a:pt x="0" y="35909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" y="160020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 Revenue-Generating Pizzas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7700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9" name="Text 7"/>
          <p:cNvSpPr/>
          <p:nvPr/>
        </p:nvSpPr>
        <p:spPr>
          <a:xfrm>
            <a:off x="870109" y="2171700"/>
            <a:ext cx="20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7645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Thai Chicken Pizza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3431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specialty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6322" y="2152650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$43,434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700" y="2743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856536" y="28575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276225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Barbecue Chicken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02895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favorite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73466" y="2838450"/>
            <a:ext cx="1019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$42,768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7700" y="3429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9" name="Text 17"/>
          <p:cNvSpPr/>
          <p:nvPr/>
        </p:nvSpPr>
        <p:spPr>
          <a:xfrm>
            <a:off x="857369" y="35433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" y="344805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California Chicken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71475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West coast style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82396" y="3524250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788A9C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$41,409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7700" y="4156710"/>
            <a:ext cx="5105400" cy="7620"/>
          </a:xfrm>
          <a:custGeom>
            <a:avLst/>
            <a:gdLst/>
            <a:ahLst/>
            <a:cxnLst/>
            <a:rect l="l" t="t" r="r" b="b"/>
            <a:pathLst>
              <a:path w="5105400" h="7620">
                <a:moveTo>
                  <a:pt x="0" y="0"/>
                </a:moveTo>
                <a:lnTo>
                  <a:pt x="5105400" y="0"/>
                </a:lnTo>
                <a:lnTo>
                  <a:pt x="5105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6750" y="4343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5" name="Text 23"/>
          <p:cNvSpPr/>
          <p:nvPr/>
        </p:nvSpPr>
        <p:spPr>
          <a:xfrm>
            <a:off x="895350" y="4312918"/>
            <a:ext cx="493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Chicken-based pizzas are the strongest revenue contributors, demonstrating premium pricing acceptance.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5193028"/>
            <a:ext cx="5589270" cy="1264920"/>
          </a:xfrm>
          <a:custGeom>
            <a:avLst/>
            <a:gdLst/>
            <a:ahLst/>
            <a:cxnLst/>
            <a:rect l="l" t="t" r="r" b="b"/>
            <a:pathLst>
              <a:path w="5589270" h="1264920">
                <a:moveTo>
                  <a:pt x="76199" y="0"/>
                </a:moveTo>
                <a:lnTo>
                  <a:pt x="5513071" y="0"/>
                </a:lnTo>
                <a:cubicBezTo>
                  <a:pt x="5555155" y="0"/>
                  <a:pt x="5589270" y="34115"/>
                  <a:pt x="5589270" y="76199"/>
                </a:cubicBezTo>
                <a:lnTo>
                  <a:pt x="5589270" y="1188721"/>
                </a:lnTo>
                <a:cubicBezTo>
                  <a:pt x="5589270" y="1230805"/>
                  <a:pt x="5555155" y="1264920"/>
                  <a:pt x="551307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120" y="5387341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Concentration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9120" y="5768341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3 pizzas generate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$127,611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(15.6% of total revenue), indicating strong product-market fit for premium chicken offerings.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1371600"/>
            <a:ext cx="5600700" cy="5105400"/>
          </a:xfrm>
          <a:custGeom>
            <a:avLst/>
            <a:gdLst/>
            <a:ahLst/>
            <a:cxnLst/>
            <a:rect l="l" t="t" r="r" b="b"/>
            <a:pathLst>
              <a:path w="5600700" h="5105400">
                <a:moveTo>
                  <a:pt x="76224" y="0"/>
                </a:moveTo>
                <a:lnTo>
                  <a:pt x="5524476" y="0"/>
                </a:lnTo>
                <a:cubicBezTo>
                  <a:pt x="5566574" y="0"/>
                  <a:pt x="5600700" y="34126"/>
                  <a:pt x="5600700" y="76224"/>
                </a:cubicBezTo>
                <a:lnTo>
                  <a:pt x="5600700" y="5029176"/>
                </a:lnTo>
                <a:cubicBezTo>
                  <a:pt x="5600700" y="5071274"/>
                  <a:pt x="5566574" y="5105400"/>
                  <a:pt x="5524476" y="5105400"/>
                </a:cubicBezTo>
                <a:lnTo>
                  <a:pt x="76224" y="5105400"/>
                </a:lnTo>
                <a:cubicBezTo>
                  <a:pt x="34126" y="5105400"/>
                  <a:pt x="0" y="5071274"/>
                  <a:pt x="0" y="5029176"/>
                </a:cubicBezTo>
                <a:lnTo>
                  <a:pt x="0" y="76224"/>
                </a:lnTo>
                <a:cubicBezTo>
                  <a:pt x="0" y="34155"/>
                  <a:pt x="34155" y="0"/>
                  <a:pt x="76224" y="0"/>
                </a:cubicBezTo>
                <a:close/>
              </a:path>
            </a:pathLst>
          </a:custGeom>
          <a:solidFill>
            <a:srgbClr val="2D3136">
              <a:alpha val="3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56210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Contribution by Category</a:t>
            </a:r>
            <a:endParaRPr lang="en-US" sz="1600" dirty="0"/>
          </a:p>
        </p:txBody>
      </p:sp>
      <p:pic>
        <p:nvPicPr>
          <p:cNvPr id="31" name="Image 0" descr="https://kimi-img.moonshot.cn/pub/slides/26-02-01-23:08:34-d5vmosjeqfpdts03uun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981200"/>
            <a:ext cx="5219700" cy="3810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"/>
          </a:xfrm>
          <a:custGeom>
            <a:avLst/>
            <a:gdLst/>
            <a:ahLst/>
            <a:cxnLst/>
            <a:rect l="l" t="t" r="r" b="b"/>
            <a:pathLst>
              <a:path w="381000" h="38100">
                <a:moveTo>
                  <a:pt x="0" y="0"/>
                </a:moveTo>
                <a:lnTo>
                  <a:pt x="381000" y="0"/>
                </a:lnTo>
                <a:lnTo>
                  <a:pt x="381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3810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105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Strategic Insights &amp; 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29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5621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Focus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90500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marketing efforts on high-revenue Chicken pizzas. Thai Chicken, Barbecue Chicken, and California Chicken generate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$127K+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combined—prioritize these in campaigns.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02895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0289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219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950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lnTo>
                  <a:pt x="83344" y="23812"/>
                </a:lnTo>
                <a:cubicBezTo>
                  <a:pt x="83344" y="27087"/>
                  <a:pt x="86023" y="29766"/>
                  <a:pt x="89297" y="29766"/>
                </a:cubicBezTo>
                <a:lnTo>
                  <a:pt x="101203" y="29766"/>
                </a:lnTo>
                <a:cubicBezTo>
                  <a:pt x="104477" y="29766"/>
                  <a:pt x="107156" y="27087"/>
                  <a:pt x="107156" y="23812"/>
                </a:cubicBezTo>
                <a:lnTo>
                  <a:pt x="107156" y="0"/>
                </a:lnTo>
                <a:lnTo>
                  <a:pt x="119063" y="0"/>
                </a:lnTo>
                <a:cubicBezTo>
                  <a:pt x="132197" y="0"/>
                  <a:pt x="142875" y="10678"/>
                  <a:pt x="142875" y="23812"/>
                </a:cubicBezTo>
                <a:lnTo>
                  <a:pt x="142875" y="71438"/>
                </a:lnTo>
                <a:cubicBezTo>
                  <a:pt x="142875" y="73484"/>
                  <a:pt x="142615" y="75493"/>
                  <a:pt x="142131" y="77391"/>
                </a:cubicBezTo>
                <a:lnTo>
                  <a:pt x="48369" y="77391"/>
                </a:lnTo>
                <a:cubicBezTo>
                  <a:pt x="47885" y="75493"/>
                  <a:pt x="47625" y="73484"/>
                  <a:pt x="47625" y="71438"/>
                </a:cubicBezTo>
                <a:lnTo>
                  <a:pt x="47625" y="23812"/>
                </a:lnTo>
                <a:cubicBezTo>
                  <a:pt x="47625" y="10678"/>
                  <a:pt x="58303" y="0"/>
                  <a:pt x="71438" y="0"/>
                </a:cubicBezTo>
                <a:lnTo>
                  <a:pt x="83344" y="0"/>
                </a:lnTo>
                <a:close/>
                <a:moveTo>
                  <a:pt x="119063" y="190500"/>
                </a:moveTo>
                <a:cubicBezTo>
                  <a:pt x="114895" y="190500"/>
                  <a:pt x="110951" y="189421"/>
                  <a:pt x="107528" y="187523"/>
                </a:cubicBezTo>
                <a:cubicBezTo>
                  <a:pt x="111063" y="181384"/>
                  <a:pt x="113109" y="174278"/>
                  <a:pt x="113109" y="166688"/>
                </a:cubicBezTo>
                <a:lnTo>
                  <a:pt x="113109" y="119063"/>
                </a:lnTo>
                <a:cubicBezTo>
                  <a:pt x="113109" y="111472"/>
                  <a:pt x="111063" y="104366"/>
                  <a:pt x="107528" y="98227"/>
                </a:cubicBezTo>
                <a:cubicBezTo>
                  <a:pt x="110951" y="96329"/>
                  <a:pt x="114858" y="95250"/>
                  <a:pt x="119063" y="95250"/>
                </a:cubicBezTo>
                <a:lnTo>
                  <a:pt x="130969" y="95250"/>
                </a:lnTo>
                <a:lnTo>
                  <a:pt x="130969" y="119063"/>
                </a:lnTo>
                <a:cubicBezTo>
                  <a:pt x="130969" y="122337"/>
                  <a:pt x="133648" y="125016"/>
                  <a:pt x="136922" y="125016"/>
                </a:cubicBezTo>
                <a:lnTo>
                  <a:pt x="148828" y="125016"/>
                </a:lnTo>
                <a:cubicBezTo>
                  <a:pt x="152102" y="125016"/>
                  <a:pt x="154781" y="122337"/>
                  <a:pt x="154781" y="119063"/>
                </a:cubicBezTo>
                <a:lnTo>
                  <a:pt x="154781" y="95250"/>
                </a:lnTo>
                <a:lnTo>
                  <a:pt x="166688" y="95250"/>
                </a:lnTo>
                <a:cubicBezTo>
                  <a:pt x="179822" y="95250"/>
                  <a:pt x="190500" y="105928"/>
                  <a:pt x="190500" y="119063"/>
                </a:cubicBezTo>
                <a:lnTo>
                  <a:pt x="190500" y="166688"/>
                </a:lnTo>
                <a:cubicBezTo>
                  <a:pt x="190500" y="179822"/>
                  <a:pt x="179822" y="190500"/>
                  <a:pt x="166688" y="190500"/>
                </a:cubicBezTo>
                <a:lnTo>
                  <a:pt x="119063" y="190500"/>
                </a:lnTo>
                <a:close/>
                <a:moveTo>
                  <a:pt x="0" y="119063"/>
                </a:moveTo>
                <a:cubicBezTo>
                  <a:pt x="0" y="105928"/>
                  <a:pt x="10678" y="95250"/>
                  <a:pt x="23812" y="95250"/>
                </a:cubicBezTo>
                <a:lnTo>
                  <a:pt x="35719" y="95250"/>
                </a:lnTo>
                <a:lnTo>
                  <a:pt x="35719" y="119063"/>
                </a:lnTo>
                <a:cubicBezTo>
                  <a:pt x="35719" y="122337"/>
                  <a:pt x="38398" y="125016"/>
                  <a:pt x="41672" y="125016"/>
                </a:cubicBezTo>
                <a:lnTo>
                  <a:pt x="53578" y="125016"/>
                </a:lnTo>
                <a:cubicBezTo>
                  <a:pt x="56852" y="125016"/>
                  <a:pt x="59531" y="122337"/>
                  <a:pt x="59531" y="119063"/>
                </a:cubicBezTo>
                <a:lnTo>
                  <a:pt x="59531" y="95250"/>
                </a:lnTo>
                <a:lnTo>
                  <a:pt x="71438" y="95250"/>
                </a:lnTo>
                <a:cubicBezTo>
                  <a:pt x="84572" y="95250"/>
                  <a:pt x="95250" y="105928"/>
                  <a:pt x="95250" y="119063"/>
                </a:cubicBezTo>
                <a:lnTo>
                  <a:pt x="95250" y="166688"/>
                </a:lnTo>
                <a:cubicBezTo>
                  <a:pt x="95250" y="179822"/>
                  <a:pt x="84572" y="190500"/>
                  <a:pt x="71438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119063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321945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56235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inventory strength for Classic category due to highest demand (14,888 units). Ensure consistent availability of Classic Deluxe, Hawaiian, and Pepperoni pizzas.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686305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686305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8768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6763" y="501015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876805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Upselling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5219705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premium upselling strategies using high-priced pizzas like The Greek Pizza ($35.95). Train staff to recommend premium options to increase AOV.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3716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13716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89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722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7" name="Text 25"/>
          <p:cNvSpPr/>
          <p:nvPr/>
        </p:nvSpPr>
        <p:spPr>
          <a:xfrm>
            <a:off x="7048500" y="15621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Promotions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8500" y="190500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time-based promotions during off-peak hours (2-5PM) to drive traffic. Offer lunch combos (11AM-2PM) and happy hour deals (3-5PM) to smooth demand curves.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9350" y="302895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29350" y="30289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8900" y="3219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72250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621" y="25598"/>
                </a:moveTo>
                <a:cubicBezTo>
                  <a:pt x="122448" y="20799"/>
                  <a:pt x="127583" y="17859"/>
                  <a:pt x="133127" y="17859"/>
                </a:cubicBezTo>
                <a:lnTo>
                  <a:pt x="133945" y="17859"/>
                </a:lnTo>
                <a:cubicBezTo>
                  <a:pt x="142168" y="17859"/>
                  <a:pt x="148828" y="24519"/>
                  <a:pt x="148828" y="32742"/>
                </a:cubicBezTo>
                <a:cubicBezTo>
                  <a:pt x="148828" y="40965"/>
                  <a:pt x="142168" y="47625"/>
                  <a:pt x="133945" y="47625"/>
                </a:cubicBezTo>
                <a:lnTo>
                  <a:pt x="106673" y="47625"/>
                </a:lnTo>
                <a:lnTo>
                  <a:pt x="119621" y="25598"/>
                </a:lnTo>
                <a:close/>
                <a:moveTo>
                  <a:pt x="70879" y="25598"/>
                </a:moveTo>
                <a:lnTo>
                  <a:pt x="83827" y="47625"/>
                </a:lnTo>
                <a:lnTo>
                  <a:pt x="56555" y="47625"/>
                </a:lnTo>
                <a:cubicBezTo>
                  <a:pt x="48332" y="47625"/>
                  <a:pt x="41672" y="40965"/>
                  <a:pt x="41672" y="32742"/>
                </a:cubicBezTo>
                <a:cubicBezTo>
                  <a:pt x="41672" y="24519"/>
                  <a:pt x="48332" y="17859"/>
                  <a:pt x="56555" y="17859"/>
                </a:cubicBezTo>
                <a:lnTo>
                  <a:pt x="57373" y="17859"/>
                </a:lnTo>
                <a:cubicBezTo>
                  <a:pt x="62917" y="17859"/>
                  <a:pt x="68089" y="20799"/>
                  <a:pt x="70879" y="25598"/>
                </a:cubicBezTo>
                <a:close/>
                <a:moveTo>
                  <a:pt x="104217" y="16557"/>
                </a:moveTo>
                <a:lnTo>
                  <a:pt x="95250" y="31812"/>
                </a:lnTo>
                <a:lnTo>
                  <a:pt x="86283" y="16557"/>
                </a:lnTo>
                <a:cubicBezTo>
                  <a:pt x="80256" y="6288"/>
                  <a:pt x="69242" y="0"/>
                  <a:pt x="57373" y="0"/>
                </a:cubicBezTo>
                <a:lnTo>
                  <a:pt x="56555" y="0"/>
                </a:lnTo>
                <a:cubicBezTo>
                  <a:pt x="38472" y="0"/>
                  <a:pt x="23812" y="14660"/>
                  <a:pt x="23812" y="32742"/>
                </a:cubicBezTo>
                <a:cubicBezTo>
                  <a:pt x="23812" y="38100"/>
                  <a:pt x="25115" y="43160"/>
                  <a:pt x="27384" y="47625"/>
                </a:cubicBezTo>
                <a:lnTo>
                  <a:pt x="11906" y="47625"/>
                </a:lnTo>
                <a:cubicBezTo>
                  <a:pt x="5321" y="47625"/>
                  <a:pt x="0" y="52946"/>
                  <a:pt x="0" y="59531"/>
                </a:cubicBezTo>
                <a:lnTo>
                  <a:pt x="0" y="71438"/>
                </a:lnTo>
                <a:cubicBezTo>
                  <a:pt x="0" y="78023"/>
                  <a:pt x="5321" y="83344"/>
                  <a:pt x="11906" y="83344"/>
                </a:cubicBezTo>
                <a:lnTo>
                  <a:pt x="178594" y="83344"/>
                </a:lnTo>
                <a:cubicBezTo>
                  <a:pt x="185179" y="83344"/>
                  <a:pt x="190500" y="78023"/>
                  <a:pt x="190500" y="71438"/>
                </a:cubicBezTo>
                <a:lnTo>
                  <a:pt x="190500" y="59531"/>
                </a:lnTo>
                <a:cubicBezTo>
                  <a:pt x="190500" y="52946"/>
                  <a:pt x="185179" y="47625"/>
                  <a:pt x="178594" y="47625"/>
                </a:cubicBezTo>
                <a:lnTo>
                  <a:pt x="163116" y="47625"/>
                </a:lnTo>
                <a:cubicBezTo>
                  <a:pt x="165385" y="43160"/>
                  <a:pt x="166688" y="38100"/>
                  <a:pt x="166688" y="32742"/>
                </a:cubicBezTo>
                <a:cubicBezTo>
                  <a:pt x="166688" y="14660"/>
                  <a:pt x="152028" y="0"/>
                  <a:pt x="133945" y="0"/>
                </a:cubicBezTo>
                <a:lnTo>
                  <a:pt x="133127" y="0"/>
                </a:lnTo>
                <a:cubicBezTo>
                  <a:pt x="121258" y="0"/>
                  <a:pt x="110244" y="6288"/>
                  <a:pt x="104217" y="16520"/>
                </a:cubicBezTo>
                <a:close/>
                <a:moveTo>
                  <a:pt x="178594" y="101203"/>
                </a:moveTo>
                <a:lnTo>
                  <a:pt x="104180" y="101203"/>
                </a:lnTo>
                <a:lnTo>
                  <a:pt x="104180" y="178594"/>
                </a:lnTo>
                <a:lnTo>
                  <a:pt x="154781" y="178594"/>
                </a:lnTo>
                <a:cubicBezTo>
                  <a:pt x="167915" y="178594"/>
                  <a:pt x="178594" y="167915"/>
                  <a:pt x="178594" y="154781"/>
                </a:cubicBezTo>
                <a:lnTo>
                  <a:pt x="178594" y="101203"/>
                </a:lnTo>
                <a:close/>
                <a:moveTo>
                  <a:pt x="86320" y="101203"/>
                </a:moveTo>
                <a:lnTo>
                  <a:pt x="11906" y="101203"/>
                </a:lnTo>
                <a:lnTo>
                  <a:pt x="11906" y="154781"/>
                </a:lnTo>
                <a:cubicBezTo>
                  <a:pt x="11906" y="167915"/>
                  <a:pt x="22585" y="178594"/>
                  <a:pt x="35719" y="178594"/>
                </a:cubicBezTo>
                <a:lnTo>
                  <a:pt x="86320" y="178594"/>
                </a:lnTo>
                <a:lnTo>
                  <a:pt x="86320" y="101203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31"/>
          <p:cNvSpPr/>
          <p:nvPr/>
        </p:nvSpPr>
        <p:spPr>
          <a:xfrm>
            <a:off x="7048500" y="321945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Loyalty &amp; Combos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8500" y="356235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top-selling pizzas for combo meals and loyalty programs. Bundle Classic Deluxe with drinks/desserts to increase basket size and customer retention.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4686305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29350" y="468630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7" name="Shape 35"/>
          <p:cNvSpPr/>
          <p:nvPr/>
        </p:nvSpPr>
        <p:spPr>
          <a:xfrm>
            <a:off x="6438900" y="48768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48438" y="501015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83344"/>
                </a:moveTo>
                <a:cubicBezTo>
                  <a:pt x="140419" y="83344"/>
                  <a:pt x="157758" y="66005"/>
                  <a:pt x="157758" y="44648"/>
                </a:cubicBezTo>
                <a:cubicBezTo>
                  <a:pt x="157758" y="23292"/>
                  <a:pt x="140419" y="5953"/>
                  <a:pt x="119063" y="5953"/>
                </a:cubicBezTo>
                <a:cubicBezTo>
                  <a:pt x="97706" y="5953"/>
                  <a:pt x="80367" y="23292"/>
                  <a:pt x="80367" y="44648"/>
                </a:cubicBezTo>
                <a:cubicBezTo>
                  <a:pt x="80367" y="66005"/>
                  <a:pt x="97706" y="83344"/>
                  <a:pt x="119063" y="83344"/>
                </a:cubicBezTo>
                <a:close/>
                <a:moveTo>
                  <a:pt x="35719" y="86320"/>
                </a:moveTo>
                <a:cubicBezTo>
                  <a:pt x="50504" y="86320"/>
                  <a:pt x="62508" y="74317"/>
                  <a:pt x="62508" y="59531"/>
                </a:cubicBezTo>
                <a:cubicBezTo>
                  <a:pt x="62508" y="44746"/>
                  <a:pt x="50504" y="32742"/>
                  <a:pt x="35719" y="32742"/>
                </a:cubicBezTo>
                <a:cubicBezTo>
                  <a:pt x="20933" y="32742"/>
                  <a:pt x="8930" y="44746"/>
                  <a:pt x="8930" y="59531"/>
                </a:cubicBezTo>
                <a:cubicBezTo>
                  <a:pt x="8930" y="74317"/>
                  <a:pt x="20933" y="86320"/>
                  <a:pt x="35719" y="86320"/>
                </a:cubicBezTo>
                <a:close/>
                <a:moveTo>
                  <a:pt x="0" y="154781"/>
                </a:move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4165" y="178594"/>
                </a:lnTo>
                <a:cubicBezTo>
                  <a:pt x="42565" y="174947"/>
                  <a:pt x="41672" y="170929"/>
                  <a:pt x="41672" y="166688"/>
                </a:cubicBezTo>
                <a:lnTo>
                  <a:pt x="41672" y="160734"/>
                </a:lnTo>
                <a:cubicBezTo>
                  <a:pt x="41672" y="140940"/>
                  <a:pt x="49113" y="122858"/>
                  <a:pt x="61354" y="109165"/>
                </a:cubicBezTo>
                <a:cubicBezTo>
                  <a:pt x="57001" y="107863"/>
                  <a:pt x="52388" y="107156"/>
                  <a:pt x="47625" y="107156"/>
                </a:cubicBezTo>
                <a:cubicBezTo>
                  <a:pt x="21320" y="107156"/>
                  <a:pt x="0" y="128476"/>
                  <a:pt x="0" y="154781"/>
                </a:cubicBezTo>
                <a:close/>
                <a:moveTo>
                  <a:pt x="229195" y="59531"/>
                </a:moveTo>
                <a:cubicBezTo>
                  <a:pt x="229195" y="44746"/>
                  <a:pt x="217192" y="32742"/>
                  <a:pt x="202406" y="32742"/>
                </a:cubicBezTo>
                <a:cubicBezTo>
                  <a:pt x="187621" y="32742"/>
                  <a:pt x="175617" y="44746"/>
                  <a:pt x="175617" y="59531"/>
                </a:cubicBezTo>
                <a:cubicBezTo>
                  <a:pt x="175617" y="74317"/>
                  <a:pt x="187621" y="86320"/>
                  <a:pt x="202406" y="86320"/>
                </a:cubicBezTo>
                <a:cubicBezTo>
                  <a:pt x="217192" y="86320"/>
                  <a:pt x="229195" y="74317"/>
                  <a:pt x="229195" y="59531"/>
                </a:cubicBezTo>
                <a:close/>
                <a:moveTo>
                  <a:pt x="59531" y="160734"/>
                </a:moveTo>
                <a:lnTo>
                  <a:pt x="59531" y="166688"/>
                </a:lnTo>
                <a:cubicBezTo>
                  <a:pt x="59531" y="173273"/>
                  <a:pt x="64852" y="178594"/>
                  <a:pt x="71438" y="178594"/>
                </a:cubicBezTo>
                <a:lnTo>
                  <a:pt x="129778" y="178594"/>
                </a:lnTo>
                <a:cubicBezTo>
                  <a:pt x="127136" y="170557"/>
                  <a:pt x="127434" y="162074"/>
                  <a:pt x="133759" y="154781"/>
                </a:cubicBezTo>
                <a:cubicBezTo>
                  <a:pt x="128550" y="148754"/>
                  <a:pt x="126132" y="140010"/>
                  <a:pt x="129518" y="131229"/>
                </a:cubicBezTo>
                <a:cubicBezTo>
                  <a:pt x="131973" y="124867"/>
                  <a:pt x="135434" y="118914"/>
                  <a:pt x="139712" y="113630"/>
                </a:cubicBezTo>
                <a:cubicBezTo>
                  <a:pt x="141722" y="111175"/>
                  <a:pt x="144028" y="109277"/>
                  <a:pt x="146521" y="107900"/>
                </a:cubicBezTo>
                <a:cubicBezTo>
                  <a:pt x="138299" y="103622"/>
                  <a:pt x="128960" y="101203"/>
                  <a:pt x="119063" y="101203"/>
                </a:cubicBezTo>
                <a:cubicBezTo>
                  <a:pt x="86171" y="101203"/>
                  <a:pt x="59531" y="127843"/>
                  <a:pt x="59531" y="160734"/>
                </a:cubicBezTo>
                <a:close/>
                <a:moveTo>
                  <a:pt x="232395" y="144326"/>
                </a:moveTo>
                <a:cubicBezTo>
                  <a:pt x="234739" y="142987"/>
                  <a:pt x="235930" y="140196"/>
                  <a:pt x="234925" y="137629"/>
                </a:cubicBezTo>
                <a:cubicBezTo>
                  <a:pt x="233139" y="133015"/>
                  <a:pt x="230646" y="128662"/>
                  <a:pt x="227521" y="124830"/>
                </a:cubicBezTo>
                <a:cubicBezTo>
                  <a:pt x="225809" y="122709"/>
                  <a:pt x="222796" y="122337"/>
                  <a:pt x="220452" y="123713"/>
                </a:cubicBezTo>
                <a:cubicBezTo>
                  <a:pt x="212341" y="128401"/>
                  <a:pt x="202369" y="122672"/>
                  <a:pt x="202369" y="113258"/>
                </a:cubicBezTo>
                <a:cubicBezTo>
                  <a:pt x="202369" y="110542"/>
                  <a:pt x="200546" y="108124"/>
                  <a:pt x="197867" y="107714"/>
                </a:cubicBezTo>
                <a:cubicBezTo>
                  <a:pt x="193067" y="106970"/>
                  <a:pt x="187896" y="106970"/>
                  <a:pt x="183096" y="107714"/>
                </a:cubicBezTo>
                <a:cubicBezTo>
                  <a:pt x="180417" y="108124"/>
                  <a:pt x="178594" y="110542"/>
                  <a:pt x="178594" y="113258"/>
                </a:cubicBezTo>
                <a:cubicBezTo>
                  <a:pt x="178594" y="122634"/>
                  <a:pt x="168622" y="128401"/>
                  <a:pt x="160511" y="123713"/>
                </a:cubicBezTo>
                <a:cubicBezTo>
                  <a:pt x="158167" y="122374"/>
                  <a:pt x="155153" y="122746"/>
                  <a:pt x="153442" y="124830"/>
                </a:cubicBezTo>
                <a:cubicBezTo>
                  <a:pt x="150316" y="128662"/>
                  <a:pt x="147824" y="133015"/>
                  <a:pt x="146038" y="137629"/>
                </a:cubicBezTo>
                <a:cubicBezTo>
                  <a:pt x="145070" y="140159"/>
                  <a:pt x="146224" y="142949"/>
                  <a:pt x="148568" y="144289"/>
                </a:cubicBezTo>
                <a:cubicBezTo>
                  <a:pt x="156716" y="148977"/>
                  <a:pt x="156716" y="160474"/>
                  <a:pt x="148568" y="165199"/>
                </a:cubicBezTo>
                <a:cubicBezTo>
                  <a:pt x="146224" y="166539"/>
                  <a:pt x="145033" y="169329"/>
                  <a:pt x="146038" y="171859"/>
                </a:cubicBezTo>
                <a:cubicBezTo>
                  <a:pt x="147824" y="176473"/>
                  <a:pt x="150316" y="180826"/>
                  <a:pt x="153442" y="184658"/>
                </a:cubicBezTo>
                <a:cubicBezTo>
                  <a:pt x="155153" y="186779"/>
                  <a:pt x="158167" y="187151"/>
                  <a:pt x="160511" y="185775"/>
                </a:cubicBezTo>
                <a:cubicBezTo>
                  <a:pt x="168622" y="181087"/>
                  <a:pt x="178594" y="186854"/>
                  <a:pt x="178594" y="196230"/>
                </a:cubicBezTo>
                <a:cubicBezTo>
                  <a:pt x="178594" y="198946"/>
                  <a:pt x="180417" y="201364"/>
                  <a:pt x="183096" y="201774"/>
                </a:cubicBezTo>
                <a:cubicBezTo>
                  <a:pt x="187896" y="202518"/>
                  <a:pt x="193067" y="202518"/>
                  <a:pt x="197867" y="201774"/>
                </a:cubicBezTo>
                <a:cubicBezTo>
                  <a:pt x="200546" y="201364"/>
                  <a:pt x="202369" y="198946"/>
                  <a:pt x="202369" y="196230"/>
                </a:cubicBezTo>
                <a:cubicBezTo>
                  <a:pt x="202369" y="186854"/>
                  <a:pt x="212341" y="181087"/>
                  <a:pt x="220452" y="185775"/>
                </a:cubicBezTo>
                <a:cubicBezTo>
                  <a:pt x="222796" y="187114"/>
                  <a:pt x="225809" y="186742"/>
                  <a:pt x="227521" y="184658"/>
                </a:cubicBezTo>
                <a:cubicBezTo>
                  <a:pt x="230646" y="180826"/>
                  <a:pt x="233139" y="176473"/>
                  <a:pt x="234925" y="171859"/>
                </a:cubicBezTo>
                <a:cubicBezTo>
                  <a:pt x="235893" y="169329"/>
                  <a:pt x="234739" y="166539"/>
                  <a:pt x="232395" y="165199"/>
                </a:cubicBezTo>
                <a:cubicBezTo>
                  <a:pt x="224247" y="160511"/>
                  <a:pt x="224247" y="149014"/>
                  <a:pt x="232395" y="144289"/>
                </a:cubicBezTo>
                <a:close/>
                <a:moveTo>
                  <a:pt x="175617" y="154781"/>
                </a:moveTo>
                <a:cubicBezTo>
                  <a:pt x="175617" y="146567"/>
                  <a:pt x="182286" y="139898"/>
                  <a:pt x="190500" y="139898"/>
                </a:cubicBezTo>
                <a:cubicBezTo>
                  <a:pt x="198714" y="139898"/>
                  <a:pt x="205383" y="146567"/>
                  <a:pt x="205383" y="154781"/>
                </a:cubicBezTo>
                <a:cubicBezTo>
                  <a:pt x="205383" y="162995"/>
                  <a:pt x="198714" y="169664"/>
                  <a:pt x="190500" y="169664"/>
                </a:cubicBezTo>
                <a:cubicBezTo>
                  <a:pt x="182286" y="169664"/>
                  <a:pt x="175617" y="162995"/>
                  <a:pt x="175617" y="154781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9" name="Text 37"/>
          <p:cNvSpPr/>
          <p:nvPr/>
        </p:nvSpPr>
        <p:spPr>
          <a:xfrm>
            <a:off x="7048500" y="4876805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Optimization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48500" y="5219705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 staffing with lunch (12PM) and dinner (6-8PM) peaks. Reduce labor during 2-5PM slow periods and cross-train staff for flexibility.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82f7cb6a5f92b610106ac585c1a9d040c84e9802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210" r="5210" t="0" b="0"/>
          <a:stretch/>
        </p:blipFill>
        <p:spPr>
          <a:xfrm>
            <a:off x="0" y="0"/>
            <a:ext cx="12192000" cy="762856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628562"/>
          </a:xfrm>
          <a:custGeom>
            <a:avLst/>
            <a:gdLst/>
            <a:ahLst/>
            <a:cxnLst/>
            <a:rect l="l" t="t" r="r" b="b"/>
            <a:pathLst>
              <a:path w="12192000" h="7628562">
                <a:moveTo>
                  <a:pt x="0" y="0"/>
                </a:moveTo>
                <a:lnTo>
                  <a:pt x="12192000" y="0"/>
                </a:lnTo>
                <a:lnTo>
                  <a:pt x="12192000" y="7628562"/>
                </a:lnTo>
                <a:lnTo>
                  <a:pt x="0" y="762856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C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2472" y="626508"/>
            <a:ext cx="410966" cy="34247"/>
          </a:xfrm>
          <a:custGeom>
            <a:avLst/>
            <a:gdLst/>
            <a:ahLst/>
            <a:cxnLst/>
            <a:rect l="l" t="t" r="r" b="b"/>
            <a:pathLst>
              <a:path w="410966" h="34247">
                <a:moveTo>
                  <a:pt x="0" y="0"/>
                </a:moveTo>
                <a:lnTo>
                  <a:pt x="410966" y="0"/>
                </a:lnTo>
                <a:lnTo>
                  <a:pt x="410966" y="34247"/>
                </a:lnTo>
                <a:lnTo>
                  <a:pt x="0" y="34247"/>
                </a:lnTo>
                <a:lnTo>
                  <a:pt x="0" y="0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5" name="Text 2"/>
          <p:cNvSpPr/>
          <p:nvPr/>
        </p:nvSpPr>
        <p:spPr>
          <a:xfrm>
            <a:off x="856180" y="558013"/>
            <a:ext cx="1121596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spc="94" kern="0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Insights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2472" y="866238"/>
            <a:ext cx="11763910" cy="128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45" b="1" dirty="0">
                <a:solidFill>
                  <a:srgbClr val="E0E2E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Conclusion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045" b="1" dirty="0">
                <a:solidFill>
                  <a:srgbClr val="E8A9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2472" y="2629969"/>
            <a:ext cx="7756989" cy="556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SQL-driven analysis provides a </a:t>
            </a:r>
            <a:pPr>
              <a:lnSpc>
                <a:spcPct val="140000"/>
              </a:lnSpc>
            </a:pPr>
            <a:r>
              <a:rPr lang="en-US" sz="1348" b="1" dirty="0">
                <a:solidFill>
                  <a:srgbClr val="E8A9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360-degree view</a:t>
            </a:r>
            <a:pPr>
              <a:lnSpc>
                <a:spcPct val="140000"/>
              </a:lnSpc>
            </a:pPr>
            <a:r>
              <a:rPr lang="en-US" sz="134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sales performance, uncovering strong revenue stability, balanced product demand, and clear growth opportunities.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2472" y="3391969"/>
            <a:ext cx="2422989" cy="1421258"/>
          </a:xfrm>
          <a:custGeom>
            <a:avLst/>
            <a:gdLst/>
            <a:ahLst/>
            <a:cxnLst/>
            <a:rect l="l" t="t" r="r" b="b"/>
            <a:pathLst>
              <a:path w="2422989" h="1421258">
                <a:moveTo>
                  <a:pt x="68490" y="0"/>
                </a:moveTo>
                <a:lnTo>
                  <a:pt x="2354498" y="0"/>
                </a:lnTo>
                <a:cubicBezTo>
                  <a:pt x="2392299" y="0"/>
                  <a:pt x="2422989" y="30690"/>
                  <a:pt x="2422989" y="68490"/>
                </a:cubicBezTo>
                <a:lnTo>
                  <a:pt x="2422989" y="1352768"/>
                </a:lnTo>
                <a:cubicBezTo>
                  <a:pt x="2422989" y="1390569"/>
                  <a:pt x="2392299" y="1421258"/>
                  <a:pt x="2354498" y="1421258"/>
                </a:cubicBezTo>
                <a:lnTo>
                  <a:pt x="68490" y="1421258"/>
                </a:lnTo>
                <a:cubicBezTo>
                  <a:pt x="30690" y="1421258"/>
                  <a:pt x="0" y="1390569"/>
                  <a:pt x="0" y="1352768"/>
                </a:cubicBezTo>
                <a:lnTo>
                  <a:pt x="0" y="68490"/>
                </a:lnTo>
                <a:cubicBezTo>
                  <a:pt x="0" y="30690"/>
                  <a:pt x="30690" y="0"/>
                  <a:pt x="6849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47955" y="3563205"/>
            <a:ext cx="256854" cy="256854"/>
          </a:xfrm>
          <a:custGeom>
            <a:avLst/>
            <a:gdLst/>
            <a:ahLst/>
            <a:cxnLst/>
            <a:rect l="l" t="t" r="r" b="b"/>
            <a:pathLst>
              <a:path w="256854" h="256854">
                <a:moveTo>
                  <a:pt x="32107" y="32107"/>
                </a:moveTo>
                <a:cubicBezTo>
                  <a:pt x="32107" y="23227"/>
                  <a:pt x="24933" y="16053"/>
                  <a:pt x="16053" y="16053"/>
                </a:cubicBezTo>
                <a:cubicBezTo>
                  <a:pt x="7174" y="16053"/>
                  <a:pt x="0" y="23227"/>
                  <a:pt x="0" y="32107"/>
                </a:cubicBezTo>
                <a:lnTo>
                  <a:pt x="0" y="200667"/>
                </a:lnTo>
                <a:cubicBezTo>
                  <a:pt x="0" y="222841"/>
                  <a:pt x="17960" y="240801"/>
                  <a:pt x="40133" y="240801"/>
                </a:cubicBezTo>
                <a:lnTo>
                  <a:pt x="240801" y="240801"/>
                </a:lnTo>
                <a:cubicBezTo>
                  <a:pt x="249680" y="240801"/>
                  <a:pt x="256854" y="233627"/>
                  <a:pt x="256854" y="224747"/>
                </a:cubicBezTo>
                <a:cubicBezTo>
                  <a:pt x="256854" y="215868"/>
                  <a:pt x="249680" y="208694"/>
                  <a:pt x="240801" y="208694"/>
                </a:cubicBezTo>
                <a:lnTo>
                  <a:pt x="40133" y="208694"/>
                </a:lnTo>
                <a:cubicBezTo>
                  <a:pt x="35719" y="208694"/>
                  <a:pt x="32107" y="205082"/>
                  <a:pt x="32107" y="200667"/>
                </a:cubicBezTo>
                <a:lnTo>
                  <a:pt x="32107" y="32107"/>
                </a:lnTo>
                <a:close/>
                <a:moveTo>
                  <a:pt x="236085" y="75551"/>
                </a:moveTo>
                <a:cubicBezTo>
                  <a:pt x="242356" y="69280"/>
                  <a:pt x="242356" y="59096"/>
                  <a:pt x="236085" y="52826"/>
                </a:cubicBezTo>
                <a:cubicBezTo>
                  <a:pt x="229814" y="46555"/>
                  <a:pt x="219630" y="46555"/>
                  <a:pt x="213359" y="52826"/>
                </a:cubicBezTo>
                <a:lnTo>
                  <a:pt x="160534" y="105701"/>
                </a:lnTo>
                <a:lnTo>
                  <a:pt x="131738" y="76956"/>
                </a:lnTo>
                <a:cubicBezTo>
                  <a:pt x="125467" y="70685"/>
                  <a:pt x="115283" y="70685"/>
                  <a:pt x="109012" y="76956"/>
                </a:cubicBezTo>
                <a:lnTo>
                  <a:pt x="60852" y="125116"/>
                </a:lnTo>
                <a:cubicBezTo>
                  <a:pt x="54581" y="131387"/>
                  <a:pt x="54581" y="141571"/>
                  <a:pt x="60852" y="147842"/>
                </a:cubicBezTo>
                <a:cubicBezTo>
                  <a:pt x="67123" y="154112"/>
                  <a:pt x="77307" y="154112"/>
                  <a:pt x="83578" y="147842"/>
                </a:cubicBezTo>
                <a:lnTo>
                  <a:pt x="120400" y="111019"/>
                </a:lnTo>
                <a:lnTo>
                  <a:pt x="149196" y="139815"/>
                </a:lnTo>
                <a:cubicBezTo>
                  <a:pt x="155467" y="146086"/>
                  <a:pt x="165651" y="146086"/>
                  <a:pt x="171922" y="139815"/>
                </a:cubicBezTo>
                <a:lnTo>
                  <a:pt x="236135" y="75601"/>
                </a:ln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0" name="Text 7"/>
          <p:cNvSpPr/>
          <p:nvPr/>
        </p:nvSpPr>
        <p:spPr>
          <a:xfrm>
            <a:off x="513708" y="3922800"/>
            <a:ext cx="2166135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Stability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3708" y="4231025"/>
            <a:ext cx="2149011" cy="41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$817,860 with consistent growth trajectory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68054" y="3391969"/>
            <a:ext cx="2422989" cy="1421258"/>
          </a:xfrm>
          <a:custGeom>
            <a:avLst/>
            <a:gdLst/>
            <a:ahLst/>
            <a:cxnLst/>
            <a:rect l="l" t="t" r="r" b="b"/>
            <a:pathLst>
              <a:path w="2422989" h="1421258">
                <a:moveTo>
                  <a:pt x="68490" y="0"/>
                </a:moveTo>
                <a:lnTo>
                  <a:pt x="2354498" y="0"/>
                </a:lnTo>
                <a:cubicBezTo>
                  <a:pt x="2392299" y="0"/>
                  <a:pt x="2422989" y="30690"/>
                  <a:pt x="2422989" y="68490"/>
                </a:cubicBezTo>
                <a:lnTo>
                  <a:pt x="2422989" y="1352768"/>
                </a:lnTo>
                <a:cubicBezTo>
                  <a:pt x="2422989" y="1390569"/>
                  <a:pt x="2392299" y="1421258"/>
                  <a:pt x="2354498" y="1421258"/>
                </a:cubicBezTo>
                <a:lnTo>
                  <a:pt x="68490" y="1421258"/>
                </a:lnTo>
                <a:cubicBezTo>
                  <a:pt x="30690" y="1421258"/>
                  <a:pt x="0" y="1390569"/>
                  <a:pt x="0" y="1352768"/>
                </a:cubicBezTo>
                <a:lnTo>
                  <a:pt x="0" y="68490"/>
                </a:lnTo>
                <a:cubicBezTo>
                  <a:pt x="0" y="30690"/>
                  <a:pt x="30690" y="0"/>
                  <a:pt x="6849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141431" y="3563205"/>
            <a:ext cx="321067" cy="256854"/>
          </a:xfrm>
          <a:custGeom>
            <a:avLst/>
            <a:gdLst/>
            <a:ahLst/>
            <a:cxnLst/>
            <a:rect l="l" t="t" r="r" b="b"/>
            <a:pathLst>
              <a:path w="321067" h="256854">
                <a:moveTo>
                  <a:pt x="192640" y="16053"/>
                </a:moveTo>
                <a:lnTo>
                  <a:pt x="256854" y="16053"/>
                </a:lnTo>
                <a:cubicBezTo>
                  <a:pt x="265733" y="16053"/>
                  <a:pt x="272907" y="23227"/>
                  <a:pt x="272907" y="32107"/>
                </a:cubicBezTo>
                <a:cubicBezTo>
                  <a:pt x="272907" y="40986"/>
                  <a:pt x="265733" y="48160"/>
                  <a:pt x="256854" y="48160"/>
                </a:cubicBezTo>
                <a:lnTo>
                  <a:pt x="199864" y="48160"/>
                </a:lnTo>
                <a:cubicBezTo>
                  <a:pt x="197256" y="61103"/>
                  <a:pt x="188376" y="71789"/>
                  <a:pt x="176587" y="76906"/>
                </a:cubicBezTo>
                <a:lnTo>
                  <a:pt x="176587" y="224747"/>
                </a:lnTo>
                <a:lnTo>
                  <a:pt x="256854" y="224747"/>
                </a:lnTo>
                <a:cubicBezTo>
                  <a:pt x="265733" y="224747"/>
                  <a:pt x="272907" y="231921"/>
                  <a:pt x="272907" y="240801"/>
                </a:cubicBezTo>
                <a:cubicBezTo>
                  <a:pt x="272907" y="249680"/>
                  <a:pt x="265733" y="256854"/>
                  <a:pt x="256854" y="256854"/>
                </a:cubicBezTo>
                <a:lnTo>
                  <a:pt x="64213" y="256854"/>
                </a:lnTo>
                <a:cubicBezTo>
                  <a:pt x="55334" y="256854"/>
                  <a:pt x="48160" y="249680"/>
                  <a:pt x="48160" y="240801"/>
                </a:cubicBezTo>
                <a:cubicBezTo>
                  <a:pt x="48160" y="231921"/>
                  <a:pt x="55334" y="224747"/>
                  <a:pt x="64213" y="224747"/>
                </a:cubicBezTo>
                <a:lnTo>
                  <a:pt x="144480" y="224747"/>
                </a:lnTo>
                <a:lnTo>
                  <a:pt x="144480" y="76906"/>
                </a:lnTo>
                <a:cubicBezTo>
                  <a:pt x="132691" y="71739"/>
                  <a:pt x="123812" y="61053"/>
                  <a:pt x="121203" y="48160"/>
                </a:cubicBezTo>
                <a:lnTo>
                  <a:pt x="64213" y="48160"/>
                </a:lnTo>
                <a:cubicBezTo>
                  <a:pt x="55334" y="48160"/>
                  <a:pt x="48160" y="40986"/>
                  <a:pt x="48160" y="32107"/>
                </a:cubicBezTo>
                <a:cubicBezTo>
                  <a:pt x="48160" y="23227"/>
                  <a:pt x="55334" y="16053"/>
                  <a:pt x="64213" y="16053"/>
                </a:cubicBezTo>
                <a:lnTo>
                  <a:pt x="128427" y="16053"/>
                </a:lnTo>
                <a:cubicBezTo>
                  <a:pt x="135751" y="6321"/>
                  <a:pt x="147390" y="0"/>
                  <a:pt x="160534" y="0"/>
                </a:cubicBezTo>
                <a:cubicBezTo>
                  <a:pt x="173677" y="0"/>
                  <a:pt x="185316" y="6321"/>
                  <a:pt x="192640" y="16053"/>
                </a:cubicBezTo>
                <a:close/>
                <a:moveTo>
                  <a:pt x="220533" y="160534"/>
                </a:moveTo>
                <a:lnTo>
                  <a:pt x="293175" y="160534"/>
                </a:lnTo>
                <a:lnTo>
                  <a:pt x="256854" y="98227"/>
                </a:lnTo>
                <a:lnTo>
                  <a:pt x="220533" y="160534"/>
                </a:lnTo>
                <a:close/>
                <a:moveTo>
                  <a:pt x="256854" y="208694"/>
                </a:moveTo>
                <a:cubicBezTo>
                  <a:pt x="225299" y="208694"/>
                  <a:pt x="199062" y="191637"/>
                  <a:pt x="193644" y="169112"/>
                </a:cubicBezTo>
                <a:cubicBezTo>
                  <a:pt x="192339" y="163594"/>
                  <a:pt x="194145" y="157925"/>
                  <a:pt x="197005" y="153009"/>
                </a:cubicBezTo>
                <a:lnTo>
                  <a:pt x="244764" y="71136"/>
                </a:lnTo>
                <a:cubicBezTo>
                  <a:pt x="247272" y="66822"/>
                  <a:pt x="251887" y="64213"/>
                  <a:pt x="256854" y="64213"/>
                </a:cubicBezTo>
                <a:cubicBezTo>
                  <a:pt x="261820" y="64213"/>
                  <a:pt x="266436" y="66872"/>
                  <a:pt x="268944" y="71136"/>
                </a:cubicBezTo>
                <a:lnTo>
                  <a:pt x="316703" y="153009"/>
                </a:lnTo>
                <a:cubicBezTo>
                  <a:pt x="319562" y="157925"/>
                  <a:pt x="321368" y="163594"/>
                  <a:pt x="320064" y="169112"/>
                </a:cubicBezTo>
                <a:cubicBezTo>
                  <a:pt x="314646" y="191587"/>
                  <a:pt x="288409" y="208694"/>
                  <a:pt x="256854" y="208694"/>
                </a:cubicBezTo>
                <a:close/>
                <a:moveTo>
                  <a:pt x="63611" y="98227"/>
                </a:moveTo>
                <a:lnTo>
                  <a:pt x="27291" y="160534"/>
                </a:lnTo>
                <a:lnTo>
                  <a:pt x="99982" y="160534"/>
                </a:lnTo>
                <a:lnTo>
                  <a:pt x="63611" y="98227"/>
                </a:lnTo>
                <a:close/>
                <a:moveTo>
                  <a:pt x="452" y="169112"/>
                </a:moveTo>
                <a:cubicBezTo>
                  <a:pt x="-853" y="163594"/>
                  <a:pt x="953" y="157925"/>
                  <a:pt x="3813" y="153009"/>
                </a:cubicBezTo>
                <a:lnTo>
                  <a:pt x="51571" y="71136"/>
                </a:lnTo>
                <a:cubicBezTo>
                  <a:pt x="54080" y="66822"/>
                  <a:pt x="58695" y="64213"/>
                  <a:pt x="63662" y="64213"/>
                </a:cubicBezTo>
                <a:cubicBezTo>
                  <a:pt x="68628" y="64213"/>
                  <a:pt x="73244" y="66872"/>
                  <a:pt x="75752" y="71136"/>
                </a:cubicBezTo>
                <a:lnTo>
                  <a:pt x="123511" y="153009"/>
                </a:lnTo>
                <a:cubicBezTo>
                  <a:pt x="126370" y="157925"/>
                  <a:pt x="128176" y="163594"/>
                  <a:pt x="126872" y="169112"/>
                </a:cubicBezTo>
                <a:cubicBezTo>
                  <a:pt x="121454" y="191587"/>
                  <a:pt x="95217" y="208694"/>
                  <a:pt x="63662" y="208694"/>
                </a:cubicBezTo>
                <a:cubicBezTo>
                  <a:pt x="32107" y="208694"/>
                  <a:pt x="5870" y="191637"/>
                  <a:pt x="452" y="169112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4" name="Text 11"/>
          <p:cNvSpPr/>
          <p:nvPr/>
        </p:nvSpPr>
        <p:spPr>
          <a:xfrm>
            <a:off x="3139290" y="3922800"/>
            <a:ext cx="2166135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Portfolio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39290" y="4231025"/>
            <a:ext cx="2149011" cy="41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categories contribute 23-27% of revenue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93637" y="3391969"/>
            <a:ext cx="2422989" cy="1421258"/>
          </a:xfrm>
          <a:custGeom>
            <a:avLst/>
            <a:gdLst/>
            <a:ahLst/>
            <a:cxnLst/>
            <a:rect l="l" t="t" r="r" b="b"/>
            <a:pathLst>
              <a:path w="2422989" h="1421258">
                <a:moveTo>
                  <a:pt x="68490" y="0"/>
                </a:moveTo>
                <a:lnTo>
                  <a:pt x="2354498" y="0"/>
                </a:lnTo>
                <a:cubicBezTo>
                  <a:pt x="2392299" y="0"/>
                  <a:pt x="2422989" y="30690"/>
                  <a:pt x="2422989" y="68490"/>
                </a:cubicBezTo>
                <a:lnTo>
                  <a:pt x="2422989" y="1352768"/>
                </a:lnTo>
                <a:cubicBezTo>
                  <a:pt x="2422989" y="1390569"/>
                  <a:pt x="2392299" y="1421258"/>
                  <a:pt x="2354498" y="1421258"/>
                </a:cubicBezTo>
                <a:lnTo>
                  <a:pt x="68490" y="1421258"/>
                </a:lnTo>
                <a:cubicBezTo>
                  <a:pt x="30690" y="1421258"/>
                  <a:pt x="0" y="1390569"/>
                  <a:pt x="0" y="1352768"/>
                </a:cubicBezTo>
                <a:lnTo>
                  <a:pt x="0" y="68490"/>
                </a:lnTo>
                <a:cubicBezTo>
                  <a:pt x="0" y="30690"/>
                  <a:pt x="30690" y="0"/>
                  <a:pt x="6849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799120" y="3563205"/>
            <a:ext cx="256854" cy="256854"/>
          </a:xfrm>
          <a:custGeom>
            <a:avLst/>
            <a:gdLst/>
            <a:ahLst/>
            <a:cxnLst/>
            <a:rect l="l" t="t" r="r" b="b"/>
            <a:pathLst>
              <a:path w="256854" h="256854">
                <a:moveTo>
                  <a:pt x="64213" y="160534"/>
                </a:moveTo>
                <a:lnTo>
                  <a:pt x="12291" y="160534"/>
                </a:lnTo>
                <a:cubicBezTo>
                  <a:pt x="-201" y="160534"/>
                  <a:pt x="-7876" y="146939"/>
                  <a:pt x="-1455" y="136203"/>
                </a:cubicBezTo>
                <a:lnTo>
                  <a:pt x="25083" y="91956"/>
                </a:lnTo>
                <a:cubicBezTo>
                  <a:pt x="29448" y="84682"/>
                  <a:pt x="37274" y="80267"/>
                  <a:pt x="45752" y="80267"/>
                </a:cubicBezTo>
                <a:lnTo>
                  <a:pt x="93411" y="80267"/>
                </a:lnTo>
                <a:cubicBezTo>
                  <a:pt x="131587" y="15602"/>
                  <a:pt x="188527" y="12341"/>
                  <a:pt x="226603" y="17910"/>
                </a:cubicBezTo>
                <a:cubicBezTo>
                  <a:pt x="233025" y="18863"/>
                  <a:pt x="238041" y="23879"/>
                  <a:pt x="238944" y="30251"/>
                </a:cubicBezTo>
                <a:cubicBezTo>
                  <a:pt x="244513" y="68327"/>
                  <a:pt x="241252" y="125266"/>
                  <a:pt x="176587" y="163443"/>
                </a:cubicBezTo>
                <a:lnTo>
                  <a:pt x="176587" y="211102"/>
                </a:lnTo>
                <a:cubicBezTo>
                  <a:pt x="176587" y="219580"/>
                  <a:pt x="172172" y="227406"/>
                  <a:pt x="164898" y="231771"/>
                </a:cubicBezTo>
                <a:lnTo>
                  <a:pt x="120651" y="258309"/>
                </a:lnTo>
                <a:cubicBezTo>
                  <a:pt x="109966" y="264730"/>
                  <a:pt x="96320" y="257004"/>
                  <a:pt x="96320" y="244563"/>
                </a:cubicBezTo>
                <a:lnTo>
                  <a:pt x="96320" y="192640"/>
                </a:lnTo>
                <a:cubicBezTo>
                  <a:pt x="96320" y="174932"/>
                  <a:pt x="81922" y="160534"/>
                  <a:pt x="64213" y="160534"/>
                </a:cubicBezTo>
                <a:lnTo>
                  <a:pt x="64163" y="160534"/>
                </a:lnTo>
                <a:close/>
                <a:moveTo>
                  <a:pt x="200667" y="80267"/>
                </a:moveTo>
                <a:cubicBezTo>
                  <a:pt x="200667" y="66977"/>
                  <a:pt x="189877" y="56187"/>
                  <a:pt x="176587" y="56187"/>
                </a:cubicBezTo>
                <a:cubicBezTo>
                  <a:pt x="163297" y="56187"/>
                  <a:pt x="152507" y="66977"/>
                  <a:pt x="152507" y="80267"/>
                </a:cubicBezTo>
                <a:cubicBezTo>
                  <a:pt x="152507" y="93557"/>
                  <a:pt x="163297" y="104347"/>
                  <a:pt x="176587" y="104347"/>
                </a:cubicBezTo>
                <a:cubicBezTo>
                  <a:pt x="189877" y="104347"/>
                  <a:pt x="200667" y="93557"/>
                  <a:pt x="200667" y="80267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18" name="Text 15"/>
          <p:cNvSpPr/>
          <p:nvPr/>
        </p:nvSpPr>
        <p:spPr>
          <a:xfrm>
            <a:off x="5764873" y="3922800"/>
            <a:ext cx="2166135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 Ready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64873" y="4231025"/>
            <a:ext cx="2149011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Data-backed strategies for scaling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59596" y="5361182"/>
            <a:ext cx="7654247" cy="1164404"/>
          </a:xfrm>
          <a:custGeom>
            <a:avLst/>
            <a:gdLst/>
            <a:ahLst/>
            <a:cxnLst/>
            <a:rect l="l" t="t" r="r" b="b"/>
            <a:pathLst>
              <a:path w="7654247" h="1164404">
                <a:moveTo>
                  <a:pt x="34247" y="0"/>
                </a:moveTo>
                <a:lnTo>
                  <a:pt x="7585757" y="0"/>
                </a:lnTo>
                <a:cubicBezTo>
                  <a:pt x="7623583" y="0"/>
                  <a:pt x="7654247" y="30664"/>
                  <a:pt x="7654247" y="68490"/>
                </a:cubicBezTo>
                <a:lnTo>
                  <a:pt x="7654247" y="1095914"/>
                </a:lnTo>
                <a:cubicBezTo>
                  <a:pt x="7654247" y="1133740"/>
                  <a:pt x="7623583" y="1164404"/>
                  <a:pt x="7585757" y="1164404"/>
                </a:cubicBezTo>
                <a:lnTo>
                  <a:pt x="34247" y="1164404"/>
                </a:lnTo>
                <a:cubicBezTo>
                  <a:pt x="15333" y="1164404"/>
                  <a:pt x="0" y="1149072"/>
                  <a:pt x="0" y="113015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E8A95E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59596" y="5361182"/>
            <a:ext cx="34247" cy="1164404"/>
          </a:xfrm>
          <a:custGeom>
            <a:avLst/>
            <a:gdLst/>
            <a:ahLst/>
            <a:cxnLst/>
            <a:rect l="l" t="t" r="r" b="b"/>
            <a:pathLst>
              <a:path w="34247" h="1164404">
                <a:moveTo>
                  <a:pt x="34247" y="0"/>
                </a:moveTo>
                <a:lnTo>
                  <a:pt x="34247" y="0"/>
                </a:lnTo>
                <a:lnTo>
                  <a:pt x="34247" y="1164404"/>
                </a:lnTo>
                <a:lnTo>
                  <a:pt x="34247" y="1164404"/>
                </a:lnTo>
                <a:cubicBezTo>
                  <a:pt x="15333" y="1164404"/>
                  <a:pt x="0" y="1149072"/>
                  <a:pt x="0" y="1130157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2" name="Text 19"/>
          <p:cNvSpPr/>
          <p:nvPr/>
        </p:nvSpPr>
        <p:spPr>
          <a:xfrm>
            <a:off x="582202" y="5566665"/>
            <a:ext cx="7303213" cy="75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business is </a:t>
            </a:r>
            <a:pPr>
              <a:lnSpc>
                <a:spcPct val="140000"/>
              </a:lnSpc>
            </a:pPr>
            <a:r>
              <a:rPr lang="en-US" sz="121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well-positioned to scale</a:t>
            </a:r>
            <a:pPr>
              <a:lnSpc>
                <a:spcPct val="140000"/>
              </a:lnSpc>
            </a:pPr>
            <a:r>
              <a:rPr lang="en-US" sz="12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data-backed operational and marketing strategies. With predictable sales behavior, diversified revenue streams, and strong operational consistency, the foundation is set for sustainable growth.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42472" y="6841838"/>
            <a:ext cx="232024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788A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Pizza Sales Business Performance Analysis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42472" y="7047321"/>
            <a:ext cx="2311685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SQL-Driven Executive Report | February 2026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821773" y="6739096"/>
            <a:ext cx="547955" cy="547955"/>
          </a:xfrm>
          <a:custGeom>
            <a:avLst/>
            <a:gdLst/>
            <a:ahLst/>
            <a:cxnLst/>
            <a:rect l="l" t="t" r="r" b="b"/>
            <a:pathLst>
              <a:path w="547955" h="547955">
                <a:moveTo>
                  <a:pt x="273978" y="0"/>
                </a:moveTo>
                <a:lnTo>
                  <a:pt x="273978" y="0"/>
                </a:lnTo>
                <a:cubicBezTo>
                  <a:pt x="425291" y="0"/>
                  <a:pt x="547955" y="122664"/>
                  <a:pt x="547955" y="273978"/>
                </a:cubicBezTo>
                <a:lnTo>
                  <a:pt x="547955" y="273978"/>
                </a:lnTo>
                <a:cubicBezTo>
                  <a:pt x="547955" y="425291"/>
                  <a:pt x="425291" y="547955"/>
                  <a:pt x="273978" y="547955"/>
                </a:cubicBezTo>
                <a:lnTo>
                  <a:pt x="273978" y="547955"/>
                </a:lnTo>
                <a:cubicBezTo>
                  <a:pt x="122664" y="547955"/>
                  <a:pt x="0" y="425291"/>
                  <a:pt x="0" y="273978"/>
                </a:cubicBezTo>
                <a:lnTo>
                  <a:pt x="0" y="273978"/>
                </a:lnTo>
                <a:cubicBezTo>
                  <a:pt x="0" y="122664"/>
                  <a:pt x="122664" y="0"/>
                  <a:pt x="273978" y="0"/>
                </a:cubicBezTo>
                <a:close/>
              </a:path>
            </a:pathLst>
          </a:custGeom>
          <a:solidFill>
            <a:srgbClr val="E8A95E">
              <a:alpha val="2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9969464" y="6884647"/>
            <a:ext cx="256854" cy="256854"/>
          </a:xfrm>
          <a:custGeom>
            <a:avLst/>
            <a:gdLst/>
            <a:ahLst/>
            <a:cxnLst/>
            <a:rect l="l" t="t" r="r" b="b"/>
            <a:pathLst>
              <a:path w="256854" h="256854">
                <a:moveTo>
                  <a:pt x="128427" y="256854"/>
                </a:moveTo>
                <a:cubicBezTo>
                  <a:pt x="199308" y="256854"/>
                  <a:pt x="256854" y="199308"/>
                  <a:pt x="256854" y="128427"/>
                </a:cubicBezTo>
                <a:cubicBezTo>
                  <a:pt x="256854" y="57546"/>
                  <a:pt x="199308" y="0"/>
                  <a:pt x="128427" y="0"/>
                </a:cubicBezTo>
                <a:cubicBezTo>
                  <a:pt x="57546" y="0"/>
                  <a:pt x="0" y="57546"/>
                  <a:pt x="0" y="128427"/>
                </a:cubicBezTo>
                <a:cubicBezTo>
                  <a:pt x="0" y="199308"/>
                  <a:pt x="57546" y="256854"/>
                  <a:pt x="128427" y="256854"/>
                </a:cubicBezTo>
                <a:close/>
                <a:moveTo>
                  <a:pt x="170768" y="106705"/>
                </a:moveTo>
                <a:lnTo>
                  <a:pt x="130634" y="170918"/>
                </a:lnTo>
                <a:cubicBezTo>
                  <a:pt x="128527" y="174279"/>
                  <a:pt x="124915" y="176386"/>
                  <a:pt x="120952" y="176587"/>
                </a:cubicBezTo>
                <a:cubicBezTo>
                  <a:pt x="116989" y="176788"/>
                  <a:pt x="113176" y="174982"/>
                  <a:pt x="110818" y="171771"/>
                </a:cubicBezTo>
                <a:lnTo>
                  <a:pt x="86738" y="139664"/>
                </a:lnTo>
                <a:cubicBezTo>
                  <a:pt x="82725" y="134347"/>
                  <a:pt x="83829" y="126822"/>
                  <a:pt x="89146" y="122808"/>
                </a:cubicBezTo>
                <a:cubicBezTo>
                  <a:pt x="94464" y="118795"/>
                  <a:pt x="101989" y="119899"/>
                  <a:pt x="106002" y="125216"/>
                </a:cubicBezTo>
                <a:lnTo>
                  <a:pt x="119547" y="143276"/>
                </a:lnTo>
                <a:lnTo>
                  <a:pt x="150350" y="93962"/>
                </a:lnTo>
                <a:cubicBezTo>
                  <a:pt x="153862" y="88344"/>
                  <a:pt x="161286" y="86588"/>
                  <a:pt x="166955" y="90150"/>
                </a:cubicBezTo>
                <a:cubicBezTo>
                  <a:pt x="172624" y="93712"/>
                  <a:pt x="174330" y="101086"/>
                  <a:pt x="170768" y="106755"/>
                </a:cubicBezTo>
                <a:close/>
              </a:path>
            </a:pathLst>
          </a:custGeom>
          <a:solidFill>
            <a:srgbClr val="E8A95E"/>
          </a:solidFill>
          <a:ln/>
        </p:spPr>
      </p:sp>
      <p:sp>
        <p:nvSpPr>
          <p:cNvPr id="27" name="Text 24"/>
          <p:cNvSpPr/>
          <p:nvPr/>
        </p:nvSpPr>
        <p:spPr>
          <a:xfrm>
            <a:off x="10506717" y="6807591"/>
            <a:ext cx="1421258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Complete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506717" y="7047321"/>
            <a:ext cx="1404135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for implementation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Business Performance Analysis</dc:title>
  <dc:subject>Pizza Sales Business Performance Analysis</dc:subject>
  <dc:creator>Kimi</dc:creator>
  <cp:lastModifiedBy>Kimi</cp:lastModifiedBy>
  <cp:revision>1</cp:revision>
  <dcterms:created xsi:type="dcterms:W3CDTF">2026-02-01T15:09:32Z</dcterms:created>
  <dcterms:modified xsi:type="dcterms:W3CDTF">2026-02-01T15:09:32Z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{"Label":"Pizza Sales Business Performance Analysis","ContentProducer":"001191110108MACG2KBH8F10000","ProduceID":"19c19bec-a342-8d0d-8000-0000ac128c22","ReservedCode1":"","ContentPropagator":"001191110108MACG2KBH8F20000","PropagateID":"19c19bec-a342-8d0d-8000-0000ac128c22","ReservedCode2":""}</vt:lpwstr>
  </property>
</Properties>
</file>